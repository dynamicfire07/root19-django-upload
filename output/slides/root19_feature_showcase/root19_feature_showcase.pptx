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02920" y="566928"/>
            <a:ext cx="5715000" cy="5468112"/>
          </a:xfrm>
          <a:prstGeom prst="roundRect">
            <a:avLst/>
          </a:prstGeom>
          <a:solidFill>
            <a:srgbClr val="11203A">
              <a:alpha val="92000"/>
            </a:srgbClr>
          </a:solidFill>
          <a:ln w="12700">
            <a:solidFill>
              <a:srgbClr val="2A3E63">
                <a:alpha val="85000"/>
              </a:srgbClr>
            </a:solidFill>
            <a:prstDash val="solid"/>
          </a:ln>
          <a:effectLst>
            <a:outerShdw sx="100000" sy="100000" kx="0" ky="0" algn="bl" rotWithShape="0" blurRad="31750" dist="25400" dir="2700000">
              <a:srgbClr val="040A14">
                <a:alpha val="24000"/>
              </a:srgbClr>
            </a:outerShdw>
          </a:effectLst>
        </p:spPr>
      </p:sp>
      <p:sp>
        <p:nvSpPr>
          <p:cNvPr id="4" name="Shape 1"/>
          <p:cNvSpPr/>
          <p:nvPr/>
        </p:nvSpPr>
        <p:spPr>
          <a:xfrm>
            <a:off x="749808" y="822960"/>
            <a:ext cx="3063240" cy="310896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EAF2FF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59536" y="877824"/>
            <a:ext cx="2843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6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19 / FEATURE SHOWCASE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749808" y="1243584"/>
            <a:ext cx="49834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97" b="1" dirty="0">
                <a:solidFill>
                  <a:srgbClr val="FFFFFF"/>
                </a:solidFill>
              </a:rPr>
              <a:t>Study, compete, review, and operate from one revision workspace.</a:t>
            </a:r>
            <a:endParaRPr lang="en-US" sz="3097" dirty="0"/>
          </a:p>
        </p:txBody>
      </p:sp>
      <p:sp>
        <p:nvSpPr>
          <p:cNvPr id="7" name="Text 4"/>
          <p:cNvSpPr/>
          <p:nvPr/>
        </p:nvSpPr>
        <p:spPr>
          <a:xfrm>
            <a:off x="768096" y="2907792"/>
            <a:ext cx="4754880" cy="56449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D7E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deck maps the real feature surface of the Django app in this repo: learner workflows, competition, community tooling, external APIs, and the staff controls that keep the system running.</a:t>
            </a:r>
            <a:endParaRPr lang="en-US" sz="1120" dirty="0"/>
          </a:p>
        </p:txBody>
      </p:sp>
      <p:sp>
        <p:nvSpPr>
          <p:cNvPr id="8" name="Shape 5"/>
          <p:cNvSpPr/>
          <p:nvPr/>
        </p:nvSpPr>
        <p:spPr>
          <a:xfrm>
            <a:off x="768096" y="3749040"/>
            <a:ext cx="1280160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77824" y="3803904"/>
            <a:ext cx="1060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bank</a:t>
            </a:r>
            <a:endParaRPr lang="en-US" sz="800" dirty="0"/>
          </a:p>
        </p:txBody>
      </p:sp>
      <p:sp>
        <p:nvSpPr>
          <p:cNvPr id="10" name="Shape 7"/>
          <p:cNvSpPr/>
          <p:nvPr/>
        </p:nvSpPr>
        <p:spPr>
          <a:xfrm>
            <a:off x="2139696" y="3749040"/>
            <a:ext cx="1389888" cy="310896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249424" y="3803904"/>
            <a:ext cx="11704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6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studio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3639312" y="3749040"/>
            <a:ext cx="1737360" cy="310896"/>
          </a:xfrm>
          <a:prstGeom prst="roundRect">
            <a:avLst/>
          </a:prstGeom>
          <a:solidFill>
            <a:srgbClr val="FFF5DE"/>
          </a:solidFill>
          <a:ln w="12700">
            <a:solidFill>
              <a:srgbClr val="FFF5D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749040" y="3803904"/>
            <a:ext cx="1517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C6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Duels + leaderboard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768096" y="4133088"/>
            <a:ext cx="1417320" cy="310896"/>
          </a:xfrm>
          <a:prstGeom prst="roundRect">
            <a:avLst/>
          </a:prstGeom>
          <a:solidFill>
            <a:srgbClr val="E9FBF2"/>
          </a:solidFill>
          <a:ln w="12700">
            <a:solidFill>
              <a:srgbClr val="E9FBF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77824" y="4187952"/>
            <a:ext cx="1197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76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+ staff ops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2313432" y="4133088"/>
            <a:ext cx="1325880" cy="310896"/>
          </a:xfrm>
          <a:prstGeom prst="roundRect">
            <a:avLst/>
          </a:prstGeom>
          <a:solidFill>
            <a:srgbClr val="EDF0FF"/>
          </a:solidFill>
          <a:ln w="12700">
            <a:solidFill>
              <a:srgbClr val="EDF0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423160" y="4187952"/>
            <a:ext cx="1106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C7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chat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768096" y="4700016"/>
            <a:ext cx="1572768" cy="987552"/>
          </a:xfrm>
          <a:prstGeom prst="roundRect">
            <a:avLst/>
          </a:prstGeom>
          <a:solidFill>
            <a:srgbClr val="183153"/>
          </a:solidFill>
          <a:ln w="12700">
            <a:solidFill>
              <a:srgbClr val="183153"/>
            </a:solidFill>
            <a:prstDash val="solid"/>
          </a:ln>
          <a:effectLst>
            <a:outerShdw sx="100000" sy="100000" kx="0" ky="0" algn="bl" rotWithShape="0" blurRad="17780" dist="12700" dir="2700000">
              <a:srgbClr val="10213D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932688" y="484632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FC0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Learner flow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932688" y="5047488"/>
            <a:ext cx="124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932688" y="5394960"/>
            <a:ext cx="1243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FC0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bank, practice, saved, stats, progress, auth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2487168" y="4700016"/>
            <a:ext cx="1572768" cy="987552"/>
          </a:xfrm>
          <a:prstGeom prst="roundRect">
            <a:avLst/>
          </a:prstGeom>
          <a:solidFill>
            <a:srgbClr val="183153"/>
          </a:solidFill>
          <a:ln w="12700">
            <a:solidFill>
              <a:srgbClr val="183153"/>
            </a:solidFill>
            <a:prstDash val="solid"/>
          </a:ln>
          <a:effectLst>
            <a:outerShdw sx="100000" sy="100000" kx="0" ky="0" algn="bl" rotWithShape="0" blurRad="17780" dist="12700" dir="2700000">
              <a:srgbClr val="10213D">
                <a:alpha val="1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2651760" y="484632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FC0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2651760" y="5047488"/>
            <a:ext cx="124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2651760" y="5394960"/>
            <a:ext cx="1243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FC0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chat, pings, question sharing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4206240" y="4700016"/>
            <a:ext cx="1572768" cy="987552"/>
          </a:xfrm>
          <a:prstGeom prst="roundRect">
            <a:avLst/>
          </a:prstGeom>
          <a:solidFill>
            <a:srgbClr val="183153"/>
          </a:solidFill>
          <a:ln w="12700">
            <a:solidFill>
              <a:srgbClr val="183153"/>
            </a:solidFill>
            <a:prstDash val="solid"/>
          </a:ln>
          <a:effectLst>
            <a:outerShdw sx="100000" sy="100000" kx="0" ky="0" algn="bl" rotWithShape="0" blurRad="17780" dist="12700" dir="2700000">
              <a:srgbClr val="10213D">
                <a:alpha val="12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4370832" y="484632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AFC0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4370832" y="5047488"/>
            <a:ext cx="124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8+</a:t>
            </a:r>
            <a:endParaRPr lang="en-US" sz="2200" dirty="0"/>
          </a:p>
        </p:txBody>
      </p:sp>
      <p:sp>
        <p:nvSpPr>
          <p:cNvPr id="29" name="Text 26"/>
          <p:cNvSpPr/>
          <p:nvPr/>
        </p:nvSpPr>
        <p:spPr>
          <a:xfrm>
            <a:off x="4370832" y="5394960"/>
            <a:ext cx="1243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FC0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moderation, bugs, API keys, themes</a:t>
            </a:r>
            <a:endParaRPr lang="en-US" sz="750" dirty="0"/>
          </a:p>
        </p:txBody>
      </p:sp>
      <p:sp>
        <p:nvSpPr>
          <p:cNvPr id="30" name="Shape 27"/>
          <p:cNvSpPr/>
          <p:nvPr/>
        </p:nvSpPr>
        <p:spPr>
          <a:xfrm>
            <a:off x="6419088" y="713232"/>
            <a:ext cx="5230368" cy="5440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  <a:effectLst>
            <a:outerShdw sx="100000" sy="100000" kx="0" ky="0" algn="bl" rotWithShape="0" blurRad="27940" dist="20320" dir="2700000">
              <a:srgbClr val="10213D">
                <a:alpha val="18000"/>
              </a:srgbClr>
            </a:outerShdw>
          </a:effectLst>
        </p:spPr>
      </p:sp>
      <p:pic>
        <p:nvPicPr>
          <p:cNvPr id="31" name="Image 1" descr="/Users/shauryajain/Downloads/root_19 2/output/slides/root19_feature_showcase/assets/home-hero-cro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347621"/>
            <a:ext cx="5084064" cy="4171902"/>
          </a:xfrm>
          <a:prstGeom prst="rect">
            <a:avLst/>
          </a:prstGeom>
        </p:spPr>
      </p:pic>
      <p:sp>
        <p:nvSpPr>
          <p:cNvPr id="32" name="Shape 28"/>
          <p:cNvSpPr/>
          <p:nvPr/>
        </p:nvSpPr>
        <p:spPr>
          <a:xfrm>
            <a:off x="6711696" y="868680"/>
            <a:ext cx="1847088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6821424" y="923544"/>
            <a:ext cx="1627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Homepage + product framing</a:t>
            </a:r>
            <a:endParaRPr lang="en-US" sz="800" dirty="0"/>
          </a:p>
        </p:txBody>
      </p:sp>
      <p:sp>
        <p:nvSpPr>
          <p:cNvPr id="34" name="Text 30"/>
          <p:cNvSpPr/>
          <p:nvPr/>
        </p:nvSpPr>
        <p:spPr>
          <a:xfrm>
            <a:off x="502920" y="644652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C5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19 / Feature Showcase</a:t>
            </a:r>
            <a:endParaRPr lang="en-US" sz="750" dirty="0"/>
          </a:p>
        </p:txBody>
      </p:sp>
      <p:sp>
        <p:nvSpPr>
          <p:cNvPr id="35" name="Text 31"/>
          <p:cNvSpPr/>
          <p:nvPr/>
        </p:nvSpPr>
        <p:spPr>
          <a:xfrm>
            <a:off x="11292840" y="640080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8C5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566928"/>
            <a:ext cx="1783080" cy="310896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621792"/>
            <a:ext cx="1563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MAP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48640" y="941832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0B1220"/>
                </a:solidFill>
              </a:rPr>
              <a:t>All major features at a glance</a:t>
            </a:r>
            <a:endParaRPr lang="en-US" sz="2450" dirty="0"/>
          </a:p>
        </p:txBody>
      </p:sp>
      <p:sp>
        <p:nvSpPr>
          <p:cNvPr id="6" name="Text 3"/>
          <p:cNvSpPr/>
          <p:nvPr/>
        </p:nvSpPr>
        <p:spPr>
          <a:xfrm>
            <a:off x="566928" y="1536192"/>
            <a:ext cx="4892040" cy="348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84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19 is not just a question page. It is a full revision surface with learner, competitive, community, integration, and staff layers.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48640" y="2194560"/>
            <a:ext cx="2231136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F5"/>
            </a:solidFill>
            <a:prstDash val="solid"/>
          </a:ln>
          <a:effectLst>
            <a:outerShdw sx="100000" sy="100000" kx="0" ky="0" algn="bl" rotWithShape="0" blurRad="17780" dist="12700" dir="2700000">
              <a:srgbClr val="10213D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31520" y="2359152"/>
            <a:ext cx="384048" cy="384048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242773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207008" y="23591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49808" y="2825496"/>
            <a:ext cx="146304" cy="146304"/>
          </a:xfrm>
          <a:prstGeom prst="ellipse">
            <a:avLst/>
          </a:prstGeom>
          <a:solidFill>
            <a:srgbClr val="2D6BFF"/>
          </a:solidFill>
          <a:ln w="12700">
            <a:solidFill>
              <a:srgbClr val="2D6BFF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69264" y="2779776"/>
            <a:ext cx="1645920" cy="164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384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+ subtopic filters</a:t>
            </a:r>
            <a:endParaRPr lang="en-US" sz="930" dirty="0"/>
          </a:p>
        </p:txBody>
      </p:sp>
      <p:sp>
        <p:nvSpPr>
          <p:cNvPr id="13" name="Shape 10"/>
          <p:cNvSpPr/>
          <p:nvPr/>
        </p:nvSpPr>
        <p:spPr>
          <a:xfrm>
            <a:off x="749808" y="3035960"/>
            <a:ext cx="146304" cy="146304"/>
          </a:xfrm>
          <a:prstGeom prst="ellipse">
            <a:avLst/>
          </a:prstGeom>
          <a:solidFill>
            <a:srgbClr val="2D6BFF"/>
          </a:solidFill>
          <a:ln w="12700">
            <a:solidFill>
              <a:srgbClr val="2D6BFF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69264" y="2990240"/>
            <a:ext cx="1645920" cy="3112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384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fallback when filters are blank</a:t>
            </a:r>
            <a:endParaRPr lang="en-US" sz="930" dirty="0"/>
          </a:p>
        </p:txBody>
      </p:sp>
      <p:sp>
        <p:nvSpPr>
          <p:cNvPr id="15" name="Shape 12"/>
          <p:cNvSpPr/>
          <p:nvPr/>
        </p:nvSpPr>
        <p:spPr>
          <a:xfrm>
            <a:off x="3090672" y="2194560"/>
            <a:ext cx="2231136" cy="1627632"/>
          </a:xfrm>
          <a:prstGeom prst="roundRect">
            <a:avLst/>
          </a:prstGeom>
          <a:solidFill>
            <a:srgbClr val="F7FAFF"/>
          </a:solidFill>
          <a:ln w="12700">
            <a:solidFill>
              <a:srgbClr val="DCE7F5"/>
            </a:solidFill>
            <a:prstDash val="solid"/>
          </a:ln>
          <a:effectLst>
            <a:outerShdw sx="100000" sy="100000" kx="0" ky="0" algn="bl" rotWithShape="0" blurRad="17780" dist="12700" dir="2700000">
              <a:srgbClr val="10213D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273552" y="2359152"/>
            <a:ext cx="384048" cy="384048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273552" y="242773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3749040" y="23591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3291840" y="2825496"/>
            <a:ext cx="146304" cy="146304"/>
          </a:xfrm>
          <a:prstGeom prst="ellipse">
            <a:avLst/>
          </a:prstGeom>
          <a:solidFill>
            <a:srgbClr val="2D6BFF"/>
          </a:solidFill>
          <a:ln w="12700">
            <a:solidFill>
              <a:srgbClr val="2D6BFF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511296" y="2779776"/>
            <a:ext cx="1645920" cy="164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384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Answer-first question UI</a:t>
            </a:r>
            <a:endParaRPr lang="en-US" sz="930" dirty="0"/>
          </a:p>
        </p:txBody>
      </p:sp>
      <p:sp>
        <p:nvSpPr>
          <p:cNvPr id="21" name="Shape 18"/>
          <p:cNvSpPr/>
          <p:nvPr/>
        </p:nvSpPr>
        <p:spPr>
          <a:xfrm>
            <a:off x="3291840" y="3035960"/>
            <a:ext cx="146304" cy="146304"/>
          </a:xfrm>
          <a:prstGeom prst="ellipse">
            <a:avLst/>
          </a:prstGeom>
          <a:solidFill>
            <a:srgbClr val="2D6BFF"/>
          </a:solidFill>
          <a:ln w="12700">
            <a:solidFill>
              <a:srgbClr val="2D6BFF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511296" y="2990240"/>
            <a:ext cx="1645920" cy="3112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384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Timer, progress, reveal, report, share</a:t>
            </a:r>
            <a:endParaRPr lang="en-US" sz="930" dirty="0"/>
          </a:p>
        </p:txBody>
      </p:sp>
      <p:sp>
        <p:nvSpPr>
          <p:cNvPr id="23" name="Shape 20"/>
          <p:cNvSpPr/>
          <p:nvPr/>
        </p:nvSpPr>
        <p:spPr>
          <a:xfrm>
            <a:off x="5632704" y="2194560"/>
            <a:ext cx="2231136" cy="1627632"/>
          </a:xfrm>
          <a:prstGeom prst="roundRect">
            <a:avLst/>
          </a:prstGeom>
          <a:solidFill>
            <a:srgbClr val="F7FAFF"/>
          </a:solidFill>
          <a:ln w="12700">
            <a:solidFill>
              <a:srgbClr val="DCE7F5"/>
            </a:solidFill>
            <a:prstDash val="solid"/>
          </a:ln>
          <a:effectLst>
            <a:outerShdw sx="100000" sy="100000" kx="0" ky="0" algn="bl" rotWithShape="0" blurRad="17780" dist="12700" dir="2700000">
              <a:srgbClr val="10213D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5815584" y="2359152"/>
            <a:ext cx="384048" cy="384048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815584" y="242773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291072" y="23591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5833872" y="2825496"/>
            <a:ext cx="146304" cy="146304"/>
          </a:xfrm>
          <a:prstGeom prst="ellipse">
            <a:avLst/>
          </a:prstGeom>
          <a:solidFill>
            <a:srgbClr val="2D6BFF"/>
          </a:solidFill>
          <a:ln w="12700">
            <a:solidFill>
              <a:srgbClr val="2D6BFF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053328" y="2779776"/>
            <a:ext cx="1645920" cy="3112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384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Bookmarks + stars feed Saved Studio</a:t>
            </a:r>
            <a:endParaRPr lang="en-US" sz="930" dirty="0"/>
          </a:p>
        </p:txBody>
      </p:sp>
      <p:sp>
        <p:nvSpPr>
          <p:cNvPr id="29" name="Shape 26"/>
          <p:cNvSpPr/>
          <p:nvPr/>
        </p:nvSpPr>
        <p:spPr>
          <a:xfrm>
            <a:off x="5833872" y="3182417"/>
            <a:ext cx="146304" cy="146304"/>
          </a:xfrm>
          <a:prstGeom prst="ellipse">
            <a:avLst/>
          </a:prstGeom>
          <a:solidFill>
            <a:srgbClr val="2D6BFF"/>
          </a:solidFill>
          <a:ln w="12700">
            <a:solidFill>
              <a:srgbClr val="2D6BFF">
                <a:alpha val="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053328" y="3136697"/>
            <a:ext cx="1645920" cy="3112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384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Saved queue stays in the same answer flow</a:t>
            </a:r>
            <a:endParaRPr lang="en-US" sz="930" dirty="0"/>
          </a:p>
        </p:txBody>
      </p:sp>
      <p:sp>
        <p:nvSpPr>
          <p:cNvPr id="31" name="Shape 28"/>
          <p:cNvSpPr/>
          <p:nvPr/>
        </p:nvSpPr>
        <p:spPr>
          <a:xfrm>
            <a:off x="8174736" y="2194560"/>
            <a:ext cx="2231136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F5"/>
            </a:solidFill>
            <a:prstDash val="solid"/>
          </a:ln>
          <a:effectLst>
            <a:outerShdw sx="100000" sy="100000" kx="0" ky="0" algn="bl" rotWithShape="0" blurRad="17780" dist="12700" dir="2700000">
              <a:srgbClr val="10213D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8357616" y="2359152"/>
            <a:ext cx="384048" cy="384048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357616" y="242773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8833104" y="23591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8375904" y="2825496"/>
            <a:ext cx="146304" cy="146304"/>
          </a:xfrm>
          <a:prstGeom prst="ellipse">
            <a:avLst/>
          </a:prstGeom>
          <a:solidFill>
            <a:srgbClr val="2D6BFF"/>
          </a:solidFill>
          <a:ln w="12700">
            <a:solidFill>
              <a:srgbClr val="2D6BFF">
                <a:alpha val="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595360" y="2779776"/>
            <a:ext cx="1645920" cy="3112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384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Stats dashboard, streaks, avg time</a:t>
            </a:r>
            <a:endParaRPr lang="en-US" sz="930" dirty="0"/>
          </a:p>
        </p:txBody>
      </p:sp>
      <p:sp>
        <p:nvSpPr>
          <p:cNvPr id="37" name="Shape 34"/>
          <p:cNvSpPr/>
          <p:nvPr/>
        </p:nvSpPr>
        <p:spPr>
          <a:xfrm>
            <a:off x="8375904" y="3182417"/>
            <a:ext cx="146304" cy="146304"/>
          </a:xfrm>
          <a:prstGeom prst="ellipse">
            <a:avLst/>
          </a:prstGeom>
          <a:solidFill>
            <a:srgbClr val="2D6BFF"/>
          </a:solidFill>
          <a:ln w="12700">
            <a:solidFill>
              <a:srgbClr val="2D6BFF">
                <a:alpha val="0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8595360" y="3136697"/>
            <a:ext cx="1645920" cy="3112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384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Per-session progress checklists</a:t>
            </a:r>
            <a:endParaRPr lang="en-US" sz="930" dirty="0"/>
          </a:p>
        </p:txBody>
      </p:sp>
      <p:sp>
        <p:nvSpPr>
          <p:cNvPr id="39" name="Shape 36"/>
          <p:cNvSpPr/>
          <p:nvPr/>
        </p:nvSpPr>
        <p:spPr>
          <a:xfrm>
            <a:off x="548640" y="4224528"/>
            <a:ext cx="2231136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F5"/>
            </a:solidFill>
            <a:prstDash val="solid"/>
          </a:ln>
          <a:effectLst>
            <a:outerShdw sx="100000" sy="100000" kx="0" ky="0" algn="bl" rotWithShape="0" blurRad="17780" dist="12700" dir="2700000">
              <a:srgbClr val="10213D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731520" y="4389120"/>
            <a:ext cx="384048" cy="384048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31520" y="4457700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1207008" y="4389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Compete</a:t>
            </a:r>
            <a:endParaRPr lang="en-US" sz="1600" dirty="0"/>
          </a:p>
        </p:txBody>
      </p:sp>
      <p:sp>
        <p:nvSpPr>
          <p:cNvPr id="43" name="Shape 40"/>
          <p:cNvSpPr/>
          <p:nvPr/>
        </p:nvSpPr>
        <p:spPr>
          <a:xfrm>
            <a:off x="749808" y="4855464"/>
            <a:ext cx="146304" cy="146304"/>
          </a:xfrm>
          <a:prstGeom prst="ellipse">
            <a:avLst/>
          </a:prstGeom>
          <a:solidFill>
            <a:srgbClr val="2D6BFF"/>
          </a:solidFill>
          <a:ln w="12700">
            <a:solidFill>
              <a:srgbClr val="2D6BFF">
                <a:alpha val="0"/>
              </a:srgbClr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69264" y="4809744"/>
            <a:ext cx="1645920" cy="3112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384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Party-code duels on fixed question sets</a:t>
            </a:r>
            <a:endParaRPr lang="en-US" sz="930" dirty="0"/>
          </a:p>
        </p:txBody>
      </p:sp>
      <p:sp>
        <p:nvSpPr>
          <p:cNvPr id="45" name="Shape 42"/>
          <p:cNvSpPr/>
          <p:nvPr/>
        </p:nvSpPr>
        <p:spPr>
          <a:xfrm>
            <a:off x="749808" y="5212385"/>
            <a:ext cx="146304" cy="146304"/>
          </a:xfrm>
          <a:prstGeom prst="ellipse">
            <a:avLst/>
          </a:prstGeom>
          <a:solidFill>
            <a:srgbClr val="2D6BFF"/>
          </a:solidFill>
          <a:ln w="12700">
            <a:solidFill>
              <a:srgbClr val="2D6BFF">
                <a:alpha val="0"/>
              </a:srgbClr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969264" y="5166665"/>
            <a:ext cx="1645920" cy="3112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384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Leaderboard plus weekly champion theme rewards</a:t>
            </a:r>
            <a:endParaRPr lang="en-US" sz="930" dirty="0"/>
          </a:p>
        </p:txBody>
      </p:sp>
      <p:sp>
        <p:nvSpPr>
          <p:cNvPr id="47" name="Shape 44"/>
          <p:cNvSpPr/>
          <p:nvPr/>
        </p:nvSpPr>
        <p:spPr>
          <a:xfrm>
            <a:off x="3090672" y="4224528"/>
            <a:ext cx="2231136" cy="1627632"/>
          </a:xfrm>
          <a:prstGeom prst="roundRect">
            <a:avLst/>
          </a:prstGeom>
          <a:solidFill>
            <a:srgbClr val="F7FAFF"/>
          </a:solidFill>
          <a:ln w="12700">
            <a:solidFill>
              <a:srgbClr val="DCE7F5"/>
            </a:solidFill>
            <a:prstDash val="solid"/>
          </a:ln>
          <a:effectLst>
            <a:outerShdw sx="100000" sy="100000" kx="0" ky="0" algn="bl" rotWithShape="0" blurRad="17780" dist="12700" dir="2700000">
              <a:srgbClr val="10213D">
                <a:alpha val="10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3273552" y="4389120"/>
            <a:ext cx="384048" cy="384048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3273552" y="4457700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50" name="Text 47"/>
          <p:cNvSpPr/>
          <p:nvPr/>
        </p:nvSpPr>
        <p:spPr>
          <a:xfrm>
            <a:off x="3749040" y="4389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</a:t>
            </a:r>
            <a:endParaRPr lang="en-US" sz="1600" dirty="0"/>
          </a:p>
        </p:txBody>
      </p:sp>
      <p:sp>
        <p:nvSpPr>
          <p:cNvPr id="51" name="Shape 48"/>
          <p:cNvSpPr/>
          <p:nvPr/>
        </p:nvSpPr>
        <p:spPr>
          <a:xfrm>
            <a:off x="3291840" y="4855464"/>
            <a:ext cx="146304" cy="146304"/>
          </a:xfrm>
          <a:prstGeom prst="ellipse">
            <a:avLst/>
          </a:prstGeom>
          <a:solidFill>
            <a:srgbClr val="2D6BFF"/>
          </a:solidFill>
          <a:ln w="12700">
            <a:solidFill>
              <a:srgbClr val="2D6BFF">
                <a:alpha val="0"/>
              </a:srgbClr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3511296" y="4809744"/>
            <a:ext cx="1645920" cy="3112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384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chat, replies, image attachments</a:t>
            </a:r>
            <a:endParaRPr lang="en-US" sz="930" dirty="0"/>
          </a:p>
        </p:txBody>
      </p:sp>
      <p:sp>
        <p:nvSpPr>
          <p:cNvPr id="53" name="Shape 50"/>
          <p:cNvSpPr/>
          <p:nvPr/>
        </p:nvSpPr>
        <p:spPr>
          <a:xfrm>
            <a:off x="3291840" y="5212385"/>
            <a:ext cx="146304" cy="146304"/>
          </a:xfrm>
          <a:prstGeom prst="ellipse">
            <a:avLst/>
          </a:prstGeom>
          <a:solidFill>
            <a:srgbClr val="2D6BFF"/>
          </a:solidFill>
          <a:ln w="12700">
            <a:solidFill>
              <a:srgbClr val="2D6BFF">
                <a:alpha val="0"/>
              </a:srgbClr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3511296" y="5166665"/>
            <a:ext cx="1645920" cy="3112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384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sharing and user pings</a:t>
            </a:r>
            <a:endParaRPr lang="en-US" sz="930" dirty="0"/>
          </a:p>
        </p:txBody>
      </p:sp>
      <p:sp>
        <p:nvSpPr>
          <p:cNvPr id="55" name="Shape 52"/>
          <p:cNvSpPr/>
          <p:nvPr/>
        </p:nvSpPr>
        <p:spPr>
          <a:xfrm>
            <a:off x="5632704" y="4224528"/>
            <a:ext cx="2231136" cy="16276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7F5"/>
            </a:solidFill>
            <a:prstDash val="solid"/>
          </a:ln>
          <a:effectLst>
            <a:outerShdw sx="100000" sy="100000" kx="0" ky="0" algn="bl" rotWithShape="0" blurRad="17780" dist="12700" dir="2700000">
              <a:srgbClr val="10213D">
                <a:alpha val="10000"/>
              </a:srgbClr>
            </a:outerShdw>
          </a:effectLst>
        </p:spPr>
      </p:sp>
      <p:sp>
        <p:nvSpPr>
          <p:cNvPr id="56" name="Shape 53"/>
          <p:cNvSpPr/>
          <p:nvPr/>
        </p:nvSpPr>
        <p:spPr>
          <a:xfrm>
            <a:off x="5815584" y="4389120"/>
            <a:ext cx="384048" cy="384048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5815584" y="4457700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58" name="Text 55"/>
          <p:cNvSpPr/>
          <p:nvPr/>
        </p:nvSpPr>
        <p:spPr>
          <a:xfrm>
            <a:off x="6291072" y="4389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1600" dirty="0"/>
          </a:p>
        </p:txBody>
      </p:sp>
      <p:sp>
        <p:nvSpPr>
          <p:cNvPr id="59" name="Shape 56"/>
          <p:cNvSpPr/>
          <p:nvPr/>
        </p:nvSpPr>
        <p:spPr>
          <a:xfrm>
            <a:off x="5833872" y="4855464"/>
            <a:ext cx="146304" cy="146304"/>
          </a:xfrm>
          <a:prstGeom prst="ellipse">
            <a:avLst/>
          </a:prstGeom>
          <a:solidFill>
            <a:srgbClr val="2D6BFF"/>
          </a:solidFill>
          <a:ln w="12700">
            <a:solidFill>
              <a:srgbClr val="2D6BFF">
                <a:alpha val="0"/>
              </a:srgbClr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6053328" y="4809744"/>
            <a:ext cx="1645920" cy="164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384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APIs with API keys</a:t>
            </a:r>
            <a:endParaRPr lang="en-US" sz="930" dirty="0"/>
          </a:p>
        </p:txBody>
      </p:sp>
      <p:sp>
        <p:nvSpPr>
          <p:cNvPr id="61" name="Shape 58"/>
          <p:cNvSpPr/>
          <p:nvPr/>
        </p:nvSpPr>
        <p:spPr>
          <a:xfrm>
            <a:off x="5833872" y="5065928"/>
            <a:ext cx="146304" cy="146304"/>
          </a:xfrm>
          <a:prstGeom prst="ellipse">
            <a:avLst/>
          </a:prstGeom>
          <a:solidFill>
            <a:srgbClr val="2D6BFF"/>
          </a:solidFill>
          <a:ln w="12700">
            <a:solidFill>
              <a:srgbClr val="2D6BFF">
                <a:alpha val="0"/>
              </a:srgbClr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6053328" y="5020208"/>
            <a:ext cx="1645920" cy="3112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384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Subtopic import + image/CDN fields</a:t>
            </a:r>
            <a:endParaRPr lang="en-US" sz="930" dirty="0"/>
          </a:p>
        </p:txBody>
      </p:sp>
      <p:sp>
        <p:nvSpPr>
          <p:cNvPr id="63" name="Shape 60"/>
          <p:cNvSpPr/>
          <p:nvPr/>
        </p:nvSpPr>
        <p:spPr>
          <a:xfrm>
            <a:off x="8174736" y="4224528"/>
            <a:ext cx="2231136" cy="1627632"/>
          </a:xfrm>
          <a:prstGeom prst="roundRect">
            <a:avLst/>
          </a:prstGeom>
          <a:solidFill>
            <a:srgbClr val="F7FAFF"/>
          </a:solidFill>
          <a:ln w="12700">
            <a:solidFill>
              <a:srgbClr val="DCE7F5"/>
            </a:solidFill>
            <a:prstDash val="solid"/>
          </a:ln>
          <a:effectLst>
            <a:outerShdw sx="100000" sy="100000" kx="0" ky="0" algn="bl" rotWithShape="0" blurRad="17780" dist="12700" dir="2700000">
              <a:srgbClr val="10213D">
                <a:alpha val="10000"/>
              </a:srgbClr>
            </a:outerShdw>
          </a:effectLst>
        </p:spPr>
      </p:sp>
      <p:sp>
        <p:nvSpPr>
          <p:cNvPr id="64" name="Shape 61"/>
          <p:cNvSpPr/>
          <p:nvPr/>
        </p:nvSpPr>
        <p:spPr>
          <a:xfrm>
            <a:off x="8357616" y="4389120"/>
            <a:ext cx="384048" cy="384048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8357616" y="4457700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66" name="Text 63"/>
          <p:cNvSpPr/>
          <p:nvPr/>
        </p:nvSpPr>
        <p:spPr>
          <a:xfrm>
            <a:off x="8833104" y="4389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Operate</a:t>
            </a:r>
            <a:endParaRPr lang="en-US" sz="1600" dirty="0"/>
          </a:p>
        </p:txBody>
      </p:sp>
      <p:sp>
        <p:nvSpPr>
          <p:cNvPr id="67" name="Shape 64"/>
          <p:cNvSpPr/>
          <p:nvPr/>
        </p:nvSpPr>
        <p:spPr>
          <a:xfrm>
            <a:off x="8375904" y="4855464"/>
            <a:ext cx="146304" cy="146304"/>
          </a:xfrm>
          <a:prstGeom prst="ellipse">
            <a:avLst/>
          </a:prstGeom>
          <a:solidFill>
            <a:srgbClr val="2D6BFF"/>
          </a:solidFill>
          <a:ln w="12700">
            <a:solidFill>
              <a:srgbClr val="2D6BFF">
                <a:alpha val="0"/>
              </a:srgbClr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8595360" y="4809744"/>
            <a:ext cx="1645920" cy="45765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384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moderation, bug triage, password reset, chat lock</a:t>
            </a:r>
            <a:endParaRPr lang="en-US" sz="930" dirty="0"/>
          </a:p>
        </p:txBody>
      </p:sp>
      <p:sp>
        <p:nvSpPr>
          <p:cNvPr id="69" name="Shape 66"/>
          <p:cNvSpPr/>
          <p:nvPr/>
        </p:nvSpPr>
        <p:spPr>
          <a:xfrm>
            <a:off x="8375904" y="5358841"/>
            <a:ext cx="146304" cy="146304"/>
          </a:xfrm>
          <a:prstGeom prst="ellipse">
            <a:avLst/>
          </a:prstGeom>
          <a:solidFill>
            <a:srgbClr val="2D6BFF"/>
          </a:solidFill>
          <a:ln w="12700">
            <a:solidFill>
              <a:srgbClr val="2D6BFF">
                <a:alpha val="0"/>
              </a:srgbClr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8595360" y="5313121"/>
            <a:ext cx="1645920" cy="3112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384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 access, notices, API key management</a:t>
            </a:r>
            <a:endParaRPr lang="en-US" sz="930" dirty="0"/>
          </a:p>
        </p:txBody>
      </p:sp>
      <p:sp>
        <p:nvSpPr>
          <p:cNvPr id="71" name="Text 68"/>
          <p:cNvSpPr/>
          <p:nvPr/>
        </p:nvSpPr>
        <p:spPr>
          <a:xfrm>
            <a:off x="502920" y="644652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19 / Feature Showcase</a:t>
            </a:r>
            <a:endParaRPr lang="en-US" sz="750" dirty="0"/>
          </a:p>
        </p:txBody>
      </p:sp>
      <p:sp>
        <p:nvSpPr>
          <p:cNvPr id="72" name="Text 69"/>
          <p:cNvSpPr/>
          <p:nvPr/>
        </p:nvSpPr>
        <p:spPr>
          <a:xfrm>
            <a:off x="11292840" y="640080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566928"/>
            <a:ext cx="2331720" cy="310896"/>
          </a:xfrm>
          <a:prstGeom prst="roundRect">
            <a:avLst/>
          </a:prstGeom>
          <a:solidFill>
            <a:srgbClr val="2D6BFF"/>
          </a:solidFill>
          <a:ln w="12700">
            <a:solidFill>
              <a:srgbClr val="2D6B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621792"/>
            <a:ext cx="2112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SELECTION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48640" y="914400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B1220"/>
                </a:solidFill>
              </a:rPr>
              <a:t>Question Bank turns the archive into a fast entry point.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66928" y="1508760"/>
            <a:ext cx="5212080" cy="3521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384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page is intentionally simple: choose a session, fetch matching subtopics dynamically, and launch straight into a filtered practice set.</a:t>
            </a:r>
            <a:endParaRPr lang="en-US" sz="1060" dirty="0"/>
          </a:p>
        </p:txBody>
      </p:sp>
      <p:sp>
        <p:nvSpPr>
          <p:cNvPr id="7" name="Shape 4"/>
          <p:cNvSpPr/>
          <p:nvPr/>
        </p:nvSpPr>
        <p:spPr>
          <a:xfrm>
            <a:off x="566928" y="2011680"/>
            <a:ext cx="6583680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  <a:effectLst>
            <a:outerShdw sx="100000" sy="100000" kx="0" ky="0" algn="bl" rotWithShape="0" blurRad="27940" dist="20320" dir="2700000">
              <a:srgbClr val="10213D">
                <a:alpha val="18000"/>
              </a:srgbClr>
            </a:outerShdw>
          </a:effectLst>
        </p:spPr>
      </p:sp>
      <p:pic>
        <p:nvPicPr>
          <p:cNvPr id="8" name="Image 1" descr="/Users/shauryajain/Downloads/root_19 2/output/slides/root19_feature_showcase/assets/question-bank-overvie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2396" y="2084832"/>
            <a:ext cx="5952744" cy="3968496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479792" y="2011680"/>
            <a:ext cx="4151376" cy="4114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sx="100000" sy="100000" kx="0" ky="0" algn="bl" rotWithShape="0" blurRad="25400" dist="19050" dir="2700000">
              <a:srgbClr val="10213D">
                <a:alpha val="14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7717536" y="2212848"/>
            <a:ext cx="1554480" cy="310896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827264" y="2267712"/>
            <a:ext cx="13350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6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page does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7717536" y="2743200"/>
            <a:ext cx="146304" cy="146304"/>
          </a:xfrm>
          <a:prstGeom prst="ellipse">
            <a:avLst/>
          </a:prstGeom>
          <a:solidFill>
            <a:srgbClr val="2D6BFF"/>
          </a:solidFill>
          <a:ln w="12700">
            <a:solidFill>
              <a:srgbClr val="2D6BFF">
                <a:alpha val="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936992" y="2697480"/>
            <a:ext cx="3346704" cy="333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Loads session options from the live question table and labels them by subject.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7717536" y="3186176"/>
            <a:ext cx="146304" cy="146304"/>
          </a:xfrm>
          <a:prstGeom prst="ellipse">
            <a:avLst/>
          </a:prstGeom>
          <a:solidFill>
            <a:srgbClr val="2D6BFF"/>
          </a:solidFill>
          <a:ln w="12700">
            <a:solidFill>
              <a:srgbClr val="2D6BFF">
                <a:alpha val="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936992" y="3140456"/>
            <a:ext cx="3346704" cy="333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Calls `/get-subtopics/` only after a session is selected, so the second filter stays relevant.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7717536" y="3629152"/>
            <a:ext cx="146304" cy="146304"/>
          </a:xfrm>
          <a:prstGeom prst="ellipse">
            <a:avLst/>
          </a:prstGeom>
          <a:solidFill>
            <a:srgbClr val="2D6BFF"/>
          </a:solidFill>
          <a:ln w="12700">
            <a:solidFill>
              <a:srgbClr val="2D6BFF">
                <a:alpha val="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936992" y="3583432"/>
            <a:ext cx="3346704" cy="333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Supports random behavior at two levels: everything, or random within one chosen session.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7717536" y="4072128"/>
            <a:ext cx="146304" cy="146304"/>
          </a:xfrm>
          <a:prstGeom prst="ellipse">
            <a:avLst/>
          </a:prstGeom>
          <a:solidFill>
            <a:srgbClr val="2D6BFF"/>
          </a:solidFill>
          <a:ln w="12700">
            <a:solidFill>
              <a:srgbClr val="2D6BFF">
                <a:alpha val="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7936992" y="4026408"/>
            <a:ext cx="3346704" cy="333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surface a staff-controlled notice banner directly above the filters.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7717536" y="5138928"/>
            <a:ext cx="3639312" cy="676656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  <a:effectLst>
            <a:outerShdw sx="100000" sy="100000" kx="0" ky="0" algn="bl" rotWithShape="0" blurRad="25400" dist="12700" dir="2700000">
              <a:srgbClr val="10213D">
                <a:alpha val="10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7882128" y="5367528"/>
            <a:ext cx="3310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/question-bank/  -&gt;  /practice-questions/?session_code=...&amp;subtopic=...</a:t>
            </a:r>
            <a:endParaRPr lang="en-US" sz="850" dirty="0"/>
          </a:p>
        </p:txBody>
      </p:sp>
      <p:sp>
        <p:nvSpPr>
          <p:cNvPr id="22" name="Text 18"/>
          <p:cNvSpPr/>
          <p:nvPr/>
        </p:nvSpPr>
        <p:spPr>
          <a:xfrm>
            <a:off x="502920" y="644652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19 / Feature Showcase</a:t>
            </a:r>
            <a:endParaRPr lang="en-US" sz="750" dirty="0"/>
          </a:p>
        </p:txBody>
      </p:sp>
      <p:sp>
        <p:nvSpPr>
          <p:cNvPr id="23" name="Text 19"/>
          <p:cNvSpPr/>
          <p:nvPr/>
        </p:nvSpPr>
        <p:spPr>
          <a:xfrm>
            <a:off x="11292840" y="640080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566928"/>
            <a:ext cx="2057400" cy="310896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EAF2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621792"/>
            <a:ext cx="1837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6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STUDIO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48640" y="914400"/>
            <a:ext cx="5029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The practice flow is the core product surface.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66928" y="1490472"/>
            <a:ext cx="4754880" cy="345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D5E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removes clutter, keeps answering front and center, and leaves the support actions close by instead of burying them in separate pages.</a:t>
            </a:r>
            <a:endParaRPr lang="en-US" sz="1040" dirty="0"/>
          </a:p>
        </p:txBody>
      </p:sp>
      <p:sp>
        <p:nvSpPr>
          <p:cNvPr id="7" name="Shape 4"/>
          <p:cNvSpPr/>
          <p:nvPr/>
        </p:nvSpPr>
        <p:spPr>
          <a:xfrm>
            <a:off x="566928" y="1993392"/>
            <a:ext cx="6601968" cy="3749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  <a:effectLst>
            <a:outerShdw sx="100000" sy="100000" kx="0" ky="0" algn="bl" rotWithShape="0" blurRad="27940" dist="20320" dir="2700000">
              <a:srgbClr val="10213D">
                <a:alpha val="18000"/>
              </a:srgbClr>
            </a:outerShdw>
          </a:effectLst>
        </p:spPr>
      </p:sp>
      <p:pic>
        <p:nvPicPr>
          <p:cNvPr id="8" name="Image 1" descr="/Users/shauryajain/Downloads/root_19 2/output/slides/root19_feature_showcase/assets/practice-questions-deskto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480" y="2066544"/>
            <a:ext cx="6404864" cy="3602736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7452360" y="1572768"/>
            <a:ext cx="1847088" cy="4535424"/>
          </a:xfrm>
          <a:prstGeom prst="roundRect">
            <a:avLst/>
          </a:prstGeom>
          <a:solidFill>
            <a:srgbClr val="152A4B"/>
          </a:solidFill>
          <a:ln w="12700">
            <a:solidFill>
              <a:srgbClr val="2D4E7C"/>
            </a:solidFill>
            <a:prstDash val="solid"/>
          </a:ln>
          <a:effectLst>
            <a:outerShdw sx="100000" sy="100000" kx="0" ky="0" algn="bl" rotWithShape="0" blurRad="25400" dist="19050" dir="2700000">
              <a:srgbClr val="10213D">
                <a:alpha val="18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7699248" y="1783080"/>
            <a:ext cx="1097280" cy="310896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808976" y="1837944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6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dock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7699248" y="2103120"/>
            <a:ext cx="1353312" cy="3611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EEA"/>
            </a:solidFill>
            <a:prstDash val="solid"/>
          </a:ln>
          <a:effectLst>
            <a:outerShdw sx="100000" sy="100000" kx="0" ky="0" algn="bl" rotWithShape="0" blurRad="27940" dist="20320" dir="2700000">
              <a:srgbClr val="10213D">
                <a:alpha val="18000"/>
              </a:srgbClr>
            </a:outerShdw>
          </a:effectLst>
        </p:spPr>
      </p:sp>
      <p:pic>
        <p:nvPicPr>
          <p:cNvPr id="13" name="Image 2" descr="/Users/shauryajain/Downloads/root_19 2/output/slides/root19_feature_showcase/assets/practice-questions-mobil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2603015"/>
            <a:ext cx="1207008" cy="2612089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9528048" y="1572768"/>
            <a:ext cx="2084832" cy="4535424"/>
          </a:xfrm>
          <a:prstGeom prst="roundRect">
            <a:avLst/>
          </a:prstGeom>
          <a:solidFill>
            <a:srgbClr val="152A4B"/>
          </a:solidFill>
          <a:ln w="12700">
            <a:solidFill>
              <a:srgbClr val="2D4E7C"/>
            </a:solidFill>
            <a:prstDash val="solid"/>
          </a:ln>
          <a:effectLst>
            <a:outerShdw sx="100000" sy="100000" kx="0" ky="0" algn="bl" rotWithShape="0" blurRad="25400" dist="19050" dir="2700000">
              <a:srgbClr val="10213D">
                <a:alpha val="18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9784080" y="1783080"/>
            <a:ext cx="896112" cy="310896"/>
          </a:xfrm>
          <a:prstGeom prst="roundRect">
            <a:avLst/>
          </a:prstGeom>
          <a:solidFill>
            <a:srgbClr val="E9FBF2"/>
          </a:solidFill>
          <a:ln w="12700">
            <a:solidFill>
              <a:srgbClr val="E9FBF2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9893808" y="1837944"/>
            <a:ext cx="676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76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Behaviors</a:t>
            </a:r>
            <a:endParaRPr lang="en-US" sz="800" dirty="0"/>
          </a:p>
        </p:txBody>
      </p:sp>
      <p:sp>
        <p:nvSpPr>
          <p:cNvPr id="17" name="Shape 12"/>
          <p:cNvSpPr/>
          <p:nvPr/>
        </p:nvSpPr>
        <p:spPr>
          <a:xfrm>
            <a:off x="9765792" y="2240280"/>
            <a:ext cx="146304" cy="146304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>
                <a:alpha val="0"/>
              </a:srgbClr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9985248" y="2194560"/>
            <a:ext cx="1353312" cy="452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Guest users get a two-question preview before login prompts appear.</a:t>
            </a:r>
            <a:endParaRPr lang="en-US" sz="920" dirty="0"/>
          </a:p>
        </p:txBody>
      </p:sp>
      <p:sp>
        <p:nvSpPr>
          <p:cNvPr id="19" name="Shape 14"/>
          <p:cNvSpPr/>
          <p:nvPr/>
        </p:nvSpPr>
        <p:spPr>
          <a:xfrm>
            <a:off x="9765792" y="2802941"/>
            <a:ext cx="146304" cy="146304"/>
          </a:xfrm>
          <a:prstGeom prst="ellipse">
            <a:avLst/>
          </a:prstGeom>
          <a:solidFill>
            <a:srgbClr val="4FD1FF"/>
          </a:solidFill>
          <a:ln w="12700">
            <a:solidFill>
              <a:srgbClr val="4FD1FF">
                <a:alpha val="0"/>
              </a:srgbClr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9985248" y="2757221"/>
            <a:ext cx="1353312" cy="5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 feedback is instant and stays visible while the learner moves forward.</a:t>
            </a:r>
            <a:endParaRPr lang="en-US" sz="920" dirty="0"/>
          </a:p>
        </p:txBody>
      </p:sp>
      <p:sp>
        <p:nvSpPr>
          <p:cNvPr id="21" name="Shape 16"/>
          <p:cNvSpPr/>
          <p:nvPr/>
        </p:nvSpPr>
        <p:spPr>
          <a:xfrm>
            <a:off x="9765792" y="3510483"/>
            <a:ext cx="146304" cy="146304"/>
          </a:xfrm>
          <a:prstGeom prst="ellipse">
            <a:avLst/>
          </a:prstGeom>
          <a:solidFill>
            <a:srgbClr val="51D7A2"/>
          </a:solidFill>
          <a:ln w="12700">
            <a:solidFill>
              <a:srgbClr val="51D7A2">
                <a:alpha val="0"/>
              </a:srgbClr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9985248" y="3464763"/>
            <a:ext cx="1353312" cy="5978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 include star, save, reveal, send to chat, and report answer issues.</a:t>
            </a:r>
            <a:endParaRPr lang="en-US" sz="920" dirty="0"/>
          </a:p>
        </p:txBody>
      </p:sp>
      <p:sp>
        <p:nvSpPr>
          <p:cNvPr id="23" name="Shape 18"/>
          <p:cNvSpPr/>
          <p:nvPr/>
        </p:nvSpPr>
        <p:spPr>
          <a:xfrm>
            <a:off x="9765792" y="4218026"/>
            <a:ext cx="146304" cy="146304"/>
          </a:xfrm>
          <a:prstGeom prst="ellipse">
            <a:avLst/>
          </a:prstGeom>
          <a:solidFill>
            <a:srgbClr val="6C7BFF"/>
          </a:solidFill>
          <a:ln w="12700">
            <a:solidFill>
              <a:srgbClr val="6C7BFF">
                <a:alpha val="0"/>
              </a:srgbClr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9985248" y="4172306"/>
            <a:ext cx="1353312" cy="452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Keyboard support mirrors the touch controls for faster desktop drilling.</a:t>
            </a:r>
            <a:endParaRPr lang="en-US" sz="920" dirty="0"/>
          </a:p>
        </p:txBody>
      </p:sp>
      <p:sp>
        <p:nvSpPr>
          <p:cNvPr id="25" name="Shape 20"/>
          <p:cNvSpPr/>
          <p:nvPr/>
        </p:nvSpPr>
        <p:spPr>
          <a:xfrm>
            <a:off x="9765792" y="5157216"/>
            <a:ext cx="1572768" cy="676656"/>
          </a:xfrm>
          <a:prstGeom prst="roundRect">
            <a:avLst/>
          </a:prstGeom>
          <a:solidFill>
            <a:srgbClr val="1D385F"/>
          </a:solidFill>
          <a:ln w="12700">
            <a:solidFill>
              <a:srgbClr val="1D385F"/>
            </a:solidFill>
            <a:prstDash val="solid"/>
          </a:ln>
          <a:effectLst>
            <a:outerShdw sx="100000" sy="100000" kx="0" ky="0" algn="bl" rotWithShape="0" blurRad="17780" dist="12700" dir="2700000">
              <a:srgbClr val="10213D">
                <a:alpha val="12000"/>
              </a:srgbClr>
            </a:outerShdw>
          </a:effectLst>
        </p:spPr>
      </p:sp>
      <p:sp>
        <p:nvSpPr>
          <p:cNvPr id="26" name="Text 21"/>
          <p:cNvSpPr/>
          <p:nvPr/>
        </p:nvSpPr>
        <p:spPr>
          <a:xfrm>
            <a:off x="9930384" y="5303520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B7C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 gate</a:t>
            </a:r>
            <a:endParaRPr lang="en-US" sz="800" dirty="0"/>
          </a:p>
        </p:txBody>
      </p:sp>
      <p:sp>
        <p:nvSpPr>
          <p:cNvPr id="27" name="Text 22"/>
          <p:cNvSpPr/>
          <p:nvPr/>
        </p:nvSpPr>
        <p:spPr>
          <a:xfrm>
            <a:off x="9930384" y="5504688"/>
            <a:ext cx="124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28" name="Text 23"/>
          <p:cNvSpPr/>
          <p:nvPr/>
        </p:nvSpPr>
        <p:spPr>
          <a:xfrm>
            <a:off x="9930384" y="5541264"/>
            <a:ext cx="1243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7C9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guest preview questions</a:t>
            </a:r>
            <a:endParaRPr lang="en-US" sz="750" dirty="0"/>
          </a:p>
        </p:txBody>
      </p:sp>
      <p:sp>
        <p:nvSpPr>
          <p:cNvPr id="29" name="Text 24"/>
          <p:cNvSpPr/>
          <p:nvPr/>
        </p:nvSpPr>
        <p:spPr>
          <a:xfrm>
            <a:off x="502920" y="644652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C5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19 / Feature Showcase</a:t>
            </a:r>
            <a:endParaRPr lang="en-US" sz="750" dirty="0"/>
          </a:p>
        </p:txBody>
      </p:sp>
      <p:sp>
        <p:nvSpPr>
          <p:cNvPr id="30" name="Text 25"/>
          <p:cNvSpPr/>
          <p:nvPr/>
        </p:nvSpPr>
        <p:spPr>
          <a:xfrm>
            <a:off x="11292840" y="640080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8C5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566928"/>
            <a:ext cx="2514600" cy="310896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621792"/>
            <a:ext cx="2295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RETENTION + PROGRESS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48640" y="914400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64" b="1" dirty="0">
                <a:solidFill>
                  <a:srgbClr val="0B1220"/>
                </a:solidFill>
              </a:rPr>
              <a:t>Saved review, stats, checklists, and streaks keep learners coming back.</a:t>
            </a:r>
            <a:endParaRPr lang="en-US" sz="2164" dirty="0"/>
          </a:p>
        </p:txBody>
      </p:sp>
      <p:sp>
        <p:nvSpPr>
          <p:cNvPr id="6" name="Text 3"/>
          <p:cNvSpPr/>
          <p:nvPr/>
        </p:nvSpPr>
        <p:spPr>
          <a:xfrm>
            <a:off x="566928" y="1517904"/>
            <a:ext cx="5532120" cy="348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84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 stores interaction state per user and per question, then reuses it across dashboards instead of trapping it inside one page.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66928" y="2011680"/>
            <a:ext cx="4133088" cy="14813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sx="100000" sy="100000" kx="0" ky="0" algn="bl" rotWithShape="0" blurRad="25400" dist="19050" dir="2700000">
              <a:srgbClr val="10213D">
                <a:alpha val="1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04672" y="223113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D6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dashboard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804672" y="2505456"/>
            <a:ext cx="932688" cy="713232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  <a:effectLst>
            <a:outerShdw sx="100000" sy="100000" kx="0" ky="0" algn="bl" rotWithShape="0" blurRad="17780" dist="12700" dir="2700000">
              <a:srgbClr val="10213D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969264" y="2651760"/>
            <a:ext cx="6035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4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Attempts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969264" y="2852928"/>
            <a:ext cx="603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184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69264" y="2926080"/>
            <a:ext cx="603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84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time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1847088" y="2505456"/>
            <a:ext cx="932688" cy="713232"/>
          </a:xfrm>
          <a:prstGeom prst="roundRect">
            <a:avLst/>
          </a:prstGeom>
          <a:solidFill>
            <a:srgbClr val="E9FBF2"/>
          </a:solidFill>
          <a:ln w="12700">
            <a:solidFill>
              <a:srgbClr val="E9FBF2"/>
            </a:solidFill>
            <a:prstDash val="solid"/>
          </a:ln>
          <a:effectLst>
            <a:outerShdw sx="100000" sy="100000" kx="0" ky="0" algn="bl" rotWithShape="0" blurRad="17780" dist="12700" dir="2700000">
              <a:srgbClr val="10213D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2011680" y="2651760"/>
            <a:ext cx="6035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4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Accuracy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2011680" y="2852928"/>
            <a:ext cx="603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82%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2011680" y="2926080"/>
            <a:ext cx="603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84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out of solved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2889504" y="2505456"/>
            <a:ext cx="658368" cy="713232"/>
          </a:xfrm>
          <a:prstGeom prst="roundRect">
            <a:avLst/>
          </a:prstGeom>
          <a:solidFill>
            <a:srgbClr val="FFF5DE"/>
          </a:solidFill>
          <a:ln w="12700">
            <a:solidFill>
              <a:srgbClr val="FFF5DE"/>
            </a:solidFill>
            <a:prstDash val="solid"/>
          </a:ln>
          <a:effectLst>
            <a:outerShdw sx="100000" sy="100000" kx="0" ky="0" algn="bl" rotWithShape="0" blurRad="17780" dist="12700" dir="2700000">
              <a:srgbClr val="10213D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3054096" y="2651760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4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3054096" y="2852928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46s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3054096" y="2926080"/>
            <a:ext cx="329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84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attempt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3657600" y="2505456"/>
            <a:ext cx="804672" cy="713232"/>
          </a:xfrm>
          <a:prstGeom prst="roundRect">
            <a:avLst/>
          </a:prstGeom>
          <a:solidFill>
            <a:srgbClr val="FFF0EC"/>
          </a:solidFill>
          <a:ln w="12700">
            <a:solidFill>
              <a:srgbClr val="FFF0EC"/>
            </a:solidFill>
            <a:prstDash val="solid"/>
          </a:ln>
          <a:effectLst>
            <a:outerShdw sx="100000" sy="100000" kx="0" ky="0" algn="bl" rotWithShape="0" blurRad="17780" dist="12700" dir="2700000">
              <a:srgbClr val="10213D">
                <a:alpha val="1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3822192" y="2651760"/>
            <a:ext cx="4754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4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Streak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3822192" y="2852928"/>
            <a:ext cx="475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7d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3822192" y="2926080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384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solves/day threshold</a:t>
            </a:r>
            <a:endParaRPr lang="en-US" sz="750" dirty="0"/>
          </a:p>
        </p:txBody>
      </p:sp>
      <p:sp>
        <p:nvSpPr>
          <p:cNvPr id="25" name="Shape 22"/>
          <p:cNvSpPr/>
          <p:nvPr/>
        </p:nvSpPr>
        <p:spPr>
          <a:xfrm>
            <a:off x="566928" y="3730752"/>
            <a:ext cx="4133088" cy="197510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sx="100000" sy="100000" kx="0" ky="0" algn="bl" rotWithShape="0" blurRad="25400" dist="19050" dir="2700000">
              <a:srgbClr val="10213D">
                <a:alpha val="12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804672" y="395935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checklist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3310128" y="3931920"/>
            <a:ext cx="1078992" cy="310896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419856" y="3986784"/>
            <a:ext cx="859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6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625 / Physics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822960" y="4370832"/>
            <a:ext cx="3621024" cy="219456"/>
          </a:xfrm>
          <a:prstGeom prst="roundRect">
            <a:avLst/>
          </a:prstGeom>
          <a:solidFill>
            <a:srgbClr val="F4FAFF"/>
          </a:solidFill>
          <a:ln w="12700">
            <a:solidFill>
              <a:srgbClr val="E7EDF7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932688" y="4407408"/>
            <a:ext cx="146304" cy="146304"/>
          </a:xfrm>
          <a:prstGeom prst="ellipse">
            <a:avLst/>
          </a:prstGeom>
          <a:solidFill>
            <a:srgbClr val="51D7A2"/>
          </a:solidFill>
          <a:ln w="12700">
            <a:solidFill>
              <a:srgbClr val="51D7A2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170432" y="4411980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Motion</a:t>
            </a:r>
            <a:endParaRPr lang="en-US" sz="920" dirty="0"/>
          </a:p>
        </p:txBody>
      </p:sp>
      <p:sp>
        <p:nvSpPr>
          <p:cNvPr id="32" name="Text 29"/>
          <p:cNvSpPr/>
          <p:nvPr/>
        </p:nvSpPr>
        <p:spPr>
          <a:xfrm>
            <a:off x="3310128" y="4411980"/>
            <a:ext cx="8595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B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822960" y="4672584"/>
            <a:ext cx="3621024" cy="219456"/>
          </a:xfrm>
          <a:prstGeom prst="roundRect">
            <a:avLst/>
          </a:prstGeom>
          <a:solidFill>
            <a:srgbClr val="F4FAFF"/>
          </a:solidFill>
          <a:ln w="12700">
            <a:solidFill>
              <a:srgbClr val="E7EDF7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932688" y="4709160"/>
            <a:ext cx="146304" cy="146304"/>
          </a:xfrm>
          <a:prstGeom prst="ellipse">
            <a:avLst/>
          </a:prstGeom>
          <a:solidFill>
            <a:srgbClr val="51D7A2"/>
          </a:solidFill>
          <a:ln w="12700">
            <a:solidFill>
              <a:srgbClr val="51D7A2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170432" y="4713732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 fields</a:t>
            </a:r>
            <a:endParaRPr lang="en-US" sz="920" dirty="0"/>
          </a:p>
        </p:txBody>
      </p:sp>
      <p:sp>
        <p:nvSpPr>
          <p:cNvPr id="36" name="Text 33"/>
          <p:cNvSpPr/>
          <p:nvPr/>
        </p:nvSpPr>
        <p:spPr>
          <a:xfrm>
            <a:off x="3310128" y="4713732"/>
            <a:ext cx="8595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B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</a:t>
            </a:r>
            <a:endParaRPr lang="en-US" sz="800" dirty="0"/>
          </a:p>
        </p:txBody>
      </p:sp>
      <p:sp>
        <p:nvSpPr>
          <p:cNvPr id="37" name="Shape 34"/>
          <p:cNvSpPr/>
          <p:nvPr/>
        </p:nvSpPr>
        <p:spPr>
          <a:xfrm>
            <a:off x="822960" y="4974336"/>
            <a:ext cx="3621024" cy="219456"/>
          </a:xfrm>
          <a:prstGeom prst="roundRect">
            <a:avLst/>
          </a:prstGeom>
          <a:solidFill>
            <a:srgbClr val="FAFBFD"/>
          </a:solidFill>
          <a:ln w="12700">
            <a:solidFill>
              <a:srgbClr val="E7EDF7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932688" y="5010912"/>
            <a:ext cx="146304" cy="146304"/>
          </a:xfrm>
          <a:prstGeom prst="ellipse">
            <a:avLst/>
          </a:prstGeom>
          <a:solidFill>
            <a:srgbClr val="E9EEF7"/>
          </a:solidFill>
          <a:ln w="12700">
            <a:solidFill>
              <a:srgbClr val="C7D3E6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1170432" y="5015484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Thermal physics</a:t>
            </a:r>
            <a:endParaRPr lang="en-US" sz="920" dirty="0"/>
          </a:p>
        </p:txBody>
      </p:sp>
      <p:sp>
        <p:nvSpPr>
          <p:cNvPr id="40" name="Text 37"/>
          <p:cNvSpPr/>
          <p:nvPr/>
        </p:nvSpPr>
        <p:spPr>
          <a:xfrm>
            <a:off x="3310128" y="5015484"/>
            <a:ext cx="8595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B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800" dirty="0"/>
          </a:p>
        </p:txBody>
      </p:sp>
      <p:sp>
        <p:nvSpPr>
          <p:cNvPr id="41" name="Shape 38"/>
          <p:cNvSpPr/>
          <p:nvPr/>
        </p:nvSpPr>
        <p:spPr>
          <a:xfrm>
            <a:off x="822960" y="5276088"/>
            <a:ext cx="3621024" cy="219456"/>
          </a:xfrm>
          <a:prstGeom prst="roundRect">
            <a:avLst/>
          </a:prstGeom>
          <a:solidFill>
            <a:srgbClr val="FAFBFD"/>
          </a:solidFill>
          <a:ln w="12700">
            <a:solidFill>
              <a:srgbClr val="E7EDF7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932688" y="5312664"/>
            <a:ext cx="146304" cy="146304"/>
          </a:xfrm>
          <a:prstGeom prst="ellipse">
            <a:avLst/>
          </a:prstGeom>
          <a:solidFill>
            <a:srgbClr val="E9EEF7"/>
          </a:solidFill>
          <a:ln w="12700">
            <a:solidFill>
              <a:srgbClr val="C7D3E6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1170432" y="5317236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Waves</a:t>
            </a:r>
            <a:endParaRPr lang="en-US" sz="920" dirty="0"/>
          </a:p>
        </p:txBody>
      </p:sp>
      <p:sp>
        <p:nvSpPr>
          <p:cNvPr id="44" name="Text 41"/>
          <p:cNvSpPr/>
          <p:nvPr/>
        </p:nvSpPr>
        <p:spPr>
          <a:xfrm>
            <a:off x="3310128" y="5317236"/>
            <a:ext cx="8595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D7B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4956048" y="2011680"/>
            <a:ext cx="2944368" cy="36941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sx="100000" sy="100000" kx="0" ky="0" algn="bl" rotWithShape="0" blurRad="25400" dist="19050" dir="2700000">
              <a:srgbClr val="10213D">
                <a:alpha val="12000"/>
              </a:srgbClr>
            </a:outerShdw>
          </a:effectLst>
        </p:spPr>
      </p:sp>
      <p:sp>
        <p:nvSpPr>
          <p:cNvPr id="46" name="Text 43"/>
          <p:cNvSpPr/>
          <p:nvPr/>
        </p:nvSpPr>
        <p:spPr>
          <a:xfrm>
            <a:off x="5212080" y="2221992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Saved Studio</a:t>
            </a:r>
            <a:endParaRPr lang="en-US" sz="1600" dirty="0"/>
          </a:p>
        </p:txBody>
      </p:sp>
      <p:sp>
        <p:nvSpPr>
          <p:cNvPr id="47" name="Text 44"/>
          <p:cNvSpPr/>
          <p:nvPr/>
        </p:nvSpPr>
        <p:spPr>
          <a:xfrm>
            <a:off x="5212080" y="2706624"/>
            <a:ext cx="2395728" cy="452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384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Starred and bookmarked questions reappear in the same answer-first layout for focused revision.</a:t>
            </a:r>
            <a:endParaRPr lang="en-US" sz="920" dirty="0"/>
          </a:p>
        </p:txBody>
      </p:sp>
      <p:sp>
        <p:nvSpPr>
          <p:cNvPr id="48" name="Shape 45"/>
          <p:cNvSpPr/>
          <p:nvPr/>
        </p:nvSpPr>
        <p:spPr>
          <a:xfrm>
            <a:off x="6912864" y="2212848"/>
            <a:ext cx="713232" cy="310896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7022592" y="2267712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6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queued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5230368" y="3273552"/>
            <a:ext cx="2414016" cy="566928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E6EDF8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5376672" y="3355848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D7B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3544</a:t>
            </a:r>
            <a:endParaRPr lang="en-US" sz="800" dirty="0"/>
          </a:p>
        </p:txBody>
      </p:sp>
      <p:sp>
        <p:nvSpPr>
          <p:cNvPr id="52" name="Shape 49"/>
          <p:cNvSpPr/>
          <p:nvPr/>
        </p:nvSpPr>
        <p:spPr>
          <a:xfrm>
            <a:off x="6528816" y="3383280"/>
            <a:ext cx="100584" cy="100584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>
                <a:alpha val="0"/>
              </a:srgbClr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6675120" y="3360420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9C6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</a:t>
            </a:r>
            <a:endParaRPr lang="en-US" sz="730" dirty="0"/>
          </a:p>
        </p:txBody>
      </p:sp>
      <p:sp>
        <p:nvSpPr>
          <p:cNvPr id="54" name="Shape 51"/>
          <p:cNvSpPr/>
          <p:nvPr/>
        </p:nvSpPr>
        <p:spPr>
          <a:xfrm>
            <a:off x="7040880" y="3383280"/>
            <a:ext cx="100584" cy="100584"/>
          </a:xfrm>
          <a:prstGeom prst="ellipse">
            <a:avLst/>
          </a:prstGeom>
          <a:solidFill>
            <a:srgbClr val="2D6BFF"/>
          </a:solidFill>
          <a:ln w="12700">
            <a:solidFill>
              <a:srgbClr val="2D6BFF">
                <a:alpha val="0"/>
              </a:srgbClr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7187184" y="3360420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2D6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</a:t>
            </a:r>
            <a:endParaRPr lang="en-US" sz="730" dirty="0"/>
          </a:p>
        </p:txBody>
      </p:sp>
      <p:sp>
        <p:nvSpPr>
          <p:cNvPr id="56" name="Text 53"/>
          <p:cNvSpPr/>
          <p:nvPr/>
        </p:nvSpPr>
        <p:spPr>
          <a:xfrm>
            <a:off x="5376672" y="3630168"/>
            <a:ext cx="18653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Motion</a:t>
            </a:r>
            <a:endParaRPr lang="en-US" sz="1120" dirty="0"/>
          </a:p>
        </p:txBody>
      </p:sp>
      <p:sp>
        <p:nvSpPr>
          <p:cNvPr id="57" name="Shape 54"/>
          <p:cNvSpPr/>
          <p:nvPr/>
        </p:nvSpPr>
        <p:spPr>
          <a:xfrm>
            <a:off x="5230368" y="4032504"/>
            <a:ext cx="2414016" cy="566928"/>
          </a:xfrm>
          <a:prstGeom prst="roundRect">
            <a:avLst/>
          </a:prstGeom>
          <a:solidFill>
            <a:srgbClr val="FBFCFE"/>
          </a:solidFill>
          <a:ln w="12700">
            <a:solidFill>
              <a:srgbClr val="E6EDF8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5376672" y="4114800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D7B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3545</a:t>
            </a:r>
            <a:endParaRPr lang="en-US" sz="800" dirty="0"/>
          </a:p>
        </p:txBody>
      </p:sp>
      <p:sp>
        <p:nvSpPr>
          <p:cNvPr id="59" name="Shape 56"/>
          <p:cNvSpPr/>
          <p:nvPr/>
        </p:nvSpPr>
        <p:spPr>
          <a:xfrm>
            <a:off x="6528816" y="4142232"/>
            <a:ext cx="100584" cy="100584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>
                <a:alpha val="0"/>
              </a:srgbClr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6675120" y="4119372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9C6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</a:t>
            </a:r>
            <a:endParaRPr lang="en-US" sz="730" dirty="0"/>
          </a:p>
        </p:txBody>
      </p:sp>
      <p:sp>
        <p:nvSpPr>
          <p:cNvPr id="61" name="Shape 58"/>
          <p:cNvSpPr/>
          <p:nvPr/>
        </p:nvSpPr>
        <p:spPr>
          <a:xfrm>
            <a:off x="7040880" y="4142232"/>
            <a:ext cx="100584" cy="100584"/>
          </a:xfrm>
          <a:prstGeom prst="ellipse">
            <a:avLst/>
          </a:prstGeom>
          <a:solidFill>
            <a:srgbClr val="2D6BFF"/>
          </a:solidFill>
          <a:ln w="12700">
            <a:solidFill>
              <a:srgbClr val="2D6BFF">
                <a:alpha val="0"/>
              </a:srgbClr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7187184" y="4119372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2D6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</a:t>
            </a:r>
            <a:endParaRPr lang="en-US" sz="730" dirty="0"/>
          </a:p>
        </p:txBody>
      </p:sp>
      <p:sp>
        <p:nvSpPr>
          <p:cNvPr id="63" name="Text 60"/>
          <p:cNvSpPr/>
          <p:nvPr/>
        </p:nvSpPr>
        <p:spPr>
          <a:xfrm>
            <a:off x="5376672" y="4389120"/>
            <a:ext cx="18653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Thermal physics</a:t>
            </a:r>
            <a:endParaRPr lang="en-US" sz="1120" dirty="0"/>
          </a:p>
        </p:txBody>
      </p:sp>
      <p:sp>
        <p:nvSpPr>
          <p:cNvPr id="64" name="Shape 61"/>
          <p:cNvSpPr/>
          <p:nvPr/>
        </p:nvSpPr>
        <p:spPr>
          <a:xfrm>
            <a:off x="5230368" y="4791456"/>
            <a:ext cx="2414016" cy="566928"/>
          </a:xfrm>
          <a:prstGeom prst="roundRect">
            <a:avLst/>
          </a:prstGeom>
          <a:solidFill>
            <a:srgbClr val="FBFCFE"/>
          </a:solidFill>
          <a:ln w="12700">
            <a:solidFill>
              <a:srgbClr val="E6EDF8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5376672" y="4873752"/>
            <a:ext cx="914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D7B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3546</a:t>
            </a:r>
            <a:endParaRPr lang="en-US" sz="800" dirty="0"/>
          </a:p>
        </p:txBody>
      </p:sp>
      <p:sp>
        <p:nvSpPr>
          <p:cNvPr id="66" name="Shape 63"/>
          <p:cNvSpPr/>
          <p:nvPr/>
        </p:nvSpPr>
        <p:spPr>
          <a:xfrm>
            <a:off x="6528816" y="4901184"/>
            <a:ext cx="100584" cy="100584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>
                <a:alpha val="0"/>
              </a:srgbClr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6675120" y="4878324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9C6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</a:t>
            </a:r>
            <a:endParaRPr lang="en-US" sz="730" dirty="0"/>
          </a:p>
        </p:txBody>
      </p:sp>
      <p:sp>
        <p:nvSpPr>
          <p:cNvPr id="68" name="Shape 65"/>
          <p:cNvSpPr/>
          <p:nvPr/>
        </p:nvSpPr>
        <p:spPr>
          <a:xfrm>
            <a:off x="7040880" y="4901184"/>
            <a:ext cx="100584" cy="100584"/>
          </a:xfrm>
          <a:prstGeom prst="ellipse">
            <a:avLst/>
          </a:prstGeom>
          <a:solidFill>
            <a:srgbClr val="2D6BFF"/>
          </a:solidFill>
          <a:ln w="12700">
            <a:solidFill>
              <a:srgbClr val="2D6BFF">
                <a:alpha val="0"/>
              </a:srgbClr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7187184" y="4878324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b="1" dirty="0">
                <a:solidFill>
                  <a:srgbClr val="2D6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</a:t>
            </a:r>
            <a:endParaRPr lang="en-US" sz="730" dirty="0"/>
          </a:p>
        </p:txBody>
      </p:sp>
      <p:sp>
        <p:nvSpPr>
          <p:cNvPr id="70" name="Text 67"/>
          <p:cNvSpPr/>
          <p:nvPr/>
        </p:nvSpPr>
        <p:spPr>
          <a:xfrm>
            <a:off x="5376672" y="5148072"/>
            <a:ext cx="18653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 fields</a:t>
            </a:r>
            <a:endParaRPr lang="en-US" sz="1120" dirty="0"/>
          </a:p>
        </p:txBody>
      </p:sp>
      <p:sp>
        <p:nvSpPr>
          <p:cNvPr id="71" name="Shape 68"/>
          <p:cNvSpPr/>
          <p:nvPr/>
        </p:nvSpPr>
        <p:spPr>
          <a:xfrm>
            <a:off x="8156448" y="2011680"/>
            <a:ext cx="3493008" cy="36941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sx="100000" sy="100000" kx="0" ky="0" algn="bl" rotWithShape="0" blurRad="25400" dist="19050" dir="2700000">
              <a:srgbClr val="10213D">
                <a:alpha val="12000"/>
              </a:srgbClr>
            </a:outerShdw>
          </a:effectLst>
        </p:spPr>
      </p:sp>
      <p:sp>
        <p:nvSpPr>
          <p:cNvPr id="72" name="Text 69"/>
          <p:cNvSpPr/>
          <p:nvPr/>
        </p:nvSpPr>
        <p:spPr>
          <a:xfrm>
            <a:off x="8412480" y="222199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zones</a:t>
            </a:r>
            <a:endParaRPr lang="en-US" sz="1600" dirty="0"/>
          </a:p>
        </p:txBody>
      </p:sp>
      <p:sp>
        <p:nvSpPr>
          <p:cNvPr id="73" name="Text 70"/>
          <p:cNvSpPr/>
          <p:nvPr/>
        </p:nvSpPr>
        <p:spPr>
          <a:xfrm>
            <a:off x="8412480" y="2487168"/>
            <a:ext cx="2962656" cy="320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384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subtopics by attempts show where the learner is spending time and how accurate they are there.</a:t>
            </a:r>
            <a:endParaRPr lang="en-US" sz="960" dirty="0"/>
          </a:p>
        </p:txBody>
      </p:sp>
      <p:sp>
        <p:nvSpPr>
          <p:cNvPr id="74" name="Text 71"/>
          <p:cNvSpPr/>
          <p:nvPr/>
        </p:nvSpPr>
        <p:spPr>
          <a:xfrm>
            <a:off x="8412480" y="3163824"/>
            <a:ext cx="2688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4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Motion</a:t>
            </a:r>
            <a:endParaRPr lang="en-US" sz="800" dirty="0"/>
          </a:p>
        </p:txBody>
      </p:sp>
      <p:sp>
        <p:nvSpPr>
          <p:cNvPr id="75" name="Shape 72"/>
          <p:cNvSpPr/>
          <p:nvPr/>
        </p:nvSpPr>
        <p:spPr>
          <a:xfrm>
            <a:off x="8412480" y="3355848"/>
            <a:ext cx="2688336" cy="109728"/>
          </a:xfrm>
          <a:prstGeom prst="roundRect">
            <a:avLst/>
          </a:prstGeom>
          <a:solidFill>
            <a:srgbClr val="E9EEF7"/>
          </a:solidFill>
          <a:ln w="12700">
            <a:solidFill>
              <a:srgbClr val="E9EEF7">
                <a:alpha val="0"/>
              </a:srgbClr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8412480" y="3355848"/>
            <a:ext cx="2258202" cy="109728"/>
          </a:xfrm>
          <a:prstGeom prst="roundRect">
            <a:avLst/>
          </a:prstGeom>
          <a:solidFill>
            <a:srgbClr val="2D6BFF"/>
          </a:solidFill>
          <a:ln w="12700">
            <a:solidFill>
              <a:srgbClr val="2D6BFF">
                <a:alpha val="0"/>
              </a:srgbClr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8412480" y="3657600"/>
            <a:ext cx="2688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4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 fields</a:t>
            </a:r>
            <a:endParaRPr lang="en-US" sz="800" dirty="0"/>
          </a:p>
        </p:txBody>
      </p:sp>
      <p:sp>
        <p:nvSpPr>
          <p:cNvPr id="78" name="Shape 75"/>
          <p:cNvSpPr/>
          <p:nvPr/>
        </p:nvSpPr>
        <p:spPr>
          <a:xfrm>
            <a:off x="8412480" y="3849624"/>
            <a:ext cx="2688336" cy="109728"/>
          </a:xfrm>
          <a:prstGeom prst="roundRect">
            <a:avLst/>
          </a:prstGeom>
          <a:solidFill>
            <a:srgbClr val="E9EEF7"/>
          </a:solidFill>
          <a:ln w="12700">
            <a:solidFill>
              <a:srgbClr val="E9EEF7">
                <a:alpha val="0"/>
              </a:srgbClr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8412480" y="3849624"/>
            <a:ext cx="1801185" cy="109728"/>
          </a:xfrm>
          <a:prstGeom prst="roundRect">
            <a:avLst/>
          </a:prstGeom>
          <a:solidFill>
            <a:srgbClr val="51D7A2"/>
          </a:solidFill>
          <a:ln w="12700">
            <a:solidFill>
              <a:srgbClr val="51D7A2">
                <a:alpha val="0"/>
              </a:srgbClr>
            </a:solidFill>
            <a:prstDash val="solid"/>
          </a:ln>
        </p:spPr>
      </p:sp>
      <p:sp>
        <p:nvSpPr>
          <p:cNvPr id="80" name="Text 77"/>
          <p:cNvSpPr/>
          <p:nvPr/>
        </p:nvSpPr>
        <p:spPr>
          <a:xfrm>
            <a:off x="8412480" y="4151376"/>
            <a:ext cx="2688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4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Waves</a:t>
            </a:r>
            <a:endParaRPr lang="en-US" sz="800" dirty="0"/>
          </a:p>
        </p:txBody>
      </p:sp>
      <p:sp>
        <p:nvSpPr>
          <p:cNvPr id="81" name="Shape 78"/>
          <p:cNvSpPr/>
          <p:nvPr/>
        </p:nvSpPr>
        <p:spPr>
          <a:xfrm>
            <a:off x="8412480" y="4343400"/>
            <a:ext cx="2688336" cy="109728"/>
          </a:xfrm>
          <a:prstGeom prst="roundRect">
            <a:avLst/>
          </a:prstGeom>
          <a:solidFill>
            <a:srgbClr val="E9EEF7"/>
          </a:solidFill>
          <a:ln w="12700">
            <a:solidFill>
              <a:srgbClr val="E9EEF7">
                <a:alpha val="0"/>
              </a:srgbClr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8412480" y="4343400"/>
            <a:ext cx="1559235" cy="109728"/>
          </a:xfrm>
          <a:prstGeom prst="roundRect">
            <a:avLst/>
          </a:prstGeom>
          <a:solidFill>
            <a:srgbClr val="F4B942"/>
          </a:solidFill>
          <a:ln w="12700">
            <a:solidFill>
              <a:srgbClr val="F4B942">
                <a:alpha val="0"/>
              </a:srgbClr>
            </a:solidFill>
            <a:prstDash val="solid"/>
          </a:ln>
        </p:spPr>
      </p:sp>
      <p:sp>
        <p:nvSpPr>
          <p:cNvPr id="83" name="Text 80"/>
          <p:cNvSpPr/>
          <p:nvPr/>
        </p:nvSpPr>
        <p:spPr>
          <a:xfrm>
            <a:off x="8412480" y="4645152"/>
            <a:ext cx="2688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84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Thermal physics</a:t>
            </a:r>
            <a:endParaRPr lang="en-US" sz="800" dirty="0"/>
          </a:p>
        </p:txBody>
      </p:sp>
      <p:sp>
        <p:nvSpPr>
          <p:cNvPr id="84" name="Shape 81"/>
          <p:cNvSpPr/>
          <p:nvPr/>
        </p:nvSpPr>
        <p:spPr>
          <a:xfrm>
            <a:off x="8412480" y="4837176"/>
            <a:ext cx="2688336" cy="109728"/>
          </a:xfrm>
          <a:prstGeom prst="roundRect">
            <a:avLst/>
          </a:prstGeom>
          <a:solidFill>
            <a:srgbClr val="E9EEF7"/>
          </a:solidFill>
          <a:ln w="12700">
            <a:solidFill>
              <a:srgbClr val="E9EEF7">
                <a:alpha val="0"/>
              </a:srgbClr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8412480" y="4837176"/>
            <a:ext cx="1129101" cy="109728"/>
          </a:xfrm>
          <a:prstGeom prst="roundRect">
            <a:avLst/>
          </a:prstGeom>
          <a:solidFill>
            <a:srgbClr val="FF7B65"/>
          </a:solidFill>
          <a:ln w="12700">
            <a:solidFill>
              <a:srgbClr val="FF7B65">
                <a:alpha val="0"/>
              </a:srgbClr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>
            <a:off x="10149840" y="5212080"/>
            <a:ext cx="987552" cy="310896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87" name="Text 84"/>
          <p:cNvSpPr/>
          <p:nvPr/>
        </p:nvSpPr>
        <p:spPr>
          <a:xfrm>
            <a:off x="10259568" y="5266944"/>
            <a:ext cx="768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6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recent attempts</a:t>
            </a:r>
            <a:endParaRPr lang="en-US" sz="800" dirty="0"/>
          </a:p>
        </p:txBody>
      </p:sp>
      <p:sp>
        <p:nvSpPr>
          <p:cNvPr id="88" name="Text 85"/>
          <p:cNvSpPr/>
          <p:nvPr/>
        </p:nvSpPr>
        <p:spPr>
          <a:xfrm>
            <a:off x="8412480" y="5102352"/>
            <a:ext cx="1572768" cy="572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384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Recent rows also preserve whether the question was correct, solved, bookmarked, or starred.</a:t>
            </a:r>
            <a:endParaRPr lang="en-US" sz="880" dirty="0"/>
          </a:p>
        </p:txBody>
      </p:sp>
      <p:sp>
        <p:nvSpPr>
          <p:cNvPr id="89" name="Text 86"/>
          <p:cNvSpPr/>
          <p:nvPr/>
        </p:nvSpPr>
        <p:spPr>
          <a:xfrm>
            <a:off x="502920" y="644652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19 / Feature Showcase</a:t>
            </a:r>
            <a:endParaRPr lang="en-US" sz="750" dirty="0"/>
          </a:p>
        </p:txBody>
      </p:sp>
      <p:sp>
        <p:nvSpPr>
          <p:cNvPr id="90" name="Text 87"/>
          <p:cNvSpPr/>
          <p:nvPr/>
        </p:nvSpPr>
        <p:spPr>
          <a:xfrm>
            <a:off x="11292840" y="640080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566928"/>
            <a:ext cx="2880360" cy="310896"/>
          </a:xfrm>
          <a:prstGeom prst="roundRect">
            <a:avLst/>
          </a:prstGeom>
          <a:solidFill>
            <a:srgbClr val="FFF5DE"/>
          </a:solidFill>
          <a:ln w="12700">
            <a:solidFill>
              <a:srgbClr val="FFF5DE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621792"/>
            <a:ext cx="26609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C6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COMPETITION + MOTIVATION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48640" y="914400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Duels and leaderboards add pace without breaking the study model.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66928" y="1508760"/>
            <a:ext cx="5577840" cy="345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D5E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Competition is implemented as a parallel surface, not a separate product: the same question archive powers it, and the same users earn the recognition.</a:t>
            </a:r>
            <a:endParaRPr lang="en-US" sz="1040" dirty="0"/>
          </a:p>
        </p:txBody>
      </p:sp>
      <p:sp>
        <p:nvSpPr>
          <p:cNvPr id="7" name="Shape 4"/>
          <p:cNvSpPr/>
          <p:nvPr/>
        </p:nvSpPr>
        <p:spPr>
          <a:xfrm>
            <a:off x="566928" y="2011680"/>
            <a:ext cx="5047488" cy="3840480"/>
          </a:xfrm>
          <a:prstGeom prst="roundRect">
            <a:avLst/>
          </a:prstGeom>
          <a:solidFill>
            <a:srgbClr val="12233B"/>
          </a:solidFill>
          <a:ln w="12700">
            <a:solidFill>
              <a:srgbClr val="284567"/>
            </a:solidFill>
            <a:prstDash val="solid"/>
          </a:ln>
          <a:effectLst>
            <a:outerShdw sx="100000" sy="100000" kx="0" ky="0" algn="bl" rotWithShape="0" blurRad="25400" dist="19050" dir="2700000">
              <a:srgbClr val="050A14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22960" y="223113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Duels hub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4425696" y="2194560"/>
            <a:ext cx="841248" cy="310896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35424" y="2249424"/>
            <a:ext cx="6217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6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party codes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822960" y="2651760"/>
            <a:ext cx="2103120" cy="2542032"/>
          </a:xfrm>
          <a:prstGeom prst="roundRect">
            <a:avLst/>
          </a:prstGeom>
          <a:solidFill>
            <a:srgbClr val="193152"/>
          </a:solidFill>
          <a:ln w="12700">
            <a:solidFill>
              <a:srgbClr val="2A4B7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05840" y="2852928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E3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duel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005840" y="3090672"/>
            <a:ext cx="1737360" cy="434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BDD0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a question scope, choose 1-20 questions, then generate a code for an opponent.</a:t>
            </a:r>
            <a:endParaRPr lang="en-US" sz="880" dirty="0"/>
          </a:p>
        </p:txBody>
      </p:sp>
      <p:sp>
        <p:nvSpPr>
          <p:cNvPr id="14" name="Shape 11"/>
          <p:cNvSpPr/>
          <p:nvPr/>
        </p:nvSpPr>
        <p:spPr>
          <a:xfrm>
            <a:off x="1024128" y="3904488"/>
            <a:ext cx="896112" cy="310896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33856" y="3959352"/>
            <a:ext cx="6766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6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625 / Physics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1993392" y="3904488"/>
            <a:ext cx="786384" cy="310896"/>
          </a:xfrm>
          <a:prstGeom prst="roundRect">
            <a:avLst/>
          </a:prstGeom>
          <a:solidFill>
            <a:srgbClr val="FFF5DE"/>
          </a:solidFill>
          <a:ln w="12700">
            <a:solidFill>
              <a:srgbClr val="FFF5D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103120" y="3959352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C6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questions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1024128" y="4389120"/>
            <a:ext cx="1737360" cy="47548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389888" y="4535424"/>
            <a:ext cx="1005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F3G9KD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3163824" y="2651760"/>
            <a:ext cx="2194560" cy="2542032"/>
          </a:xfrm>
          <a:prstGeom prst="roundRect">
            <a:avLst/>
          </a:prstGeom>
          <a:solidFill>
            <a:srgbClr val="193152"/>
          </a:solidFill>
          <a:ln w="12700">
            <a:solidFill>
              <a:srgbClr val="2A4B79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346704" y="2852928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E3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rules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3364992" y="3154680"/>
            <a:ext cx="146304" cy="146304"/>
          </a:xfrm>
          <a:prstGeom prst="ellipse">
            <a:avLst/>
          </a:prstGeom>
          <a:solidFill>
            <a:srgbClr val="4FD1FF"/>
          </a:solidFill>
          <a:ln w="12700">
            <a:solidFill>
              <a:srgbClr val="4FD1FF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584448" y="3108960"/>
            <a:ext cx="1536192" cy="308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players get the same ordered questions.</a:t>
            </a:r>
            <a:endParaRPr lang="en-US" sz="920" dirty="0"/>
          </a:p>
        </p:txBody>
      </p:sp>
      <p:sp>
        <p:nvSpPr>
          <p:cNvPr id="24" name="Shape 21"/>
          <p:cNvSpPr/>
          <p:nvPr/>
        </p:nvSpPr>
        <p:spPr>
          <a:xfrm>
            <a:off x="3364992" y="3517595"/>
            <a:ext cx="146304" cy="146304"/>
          </a:xfrm>
          <a:prstGeom prst="ellipse">
            <a:avLst/>
          </a:prstGeom>
          <a:solidFill>
            <a:srgbClr val="4FD1FF"/>
          </a:solidFill>
          <a:ln w="12700">
            <a:solidFill>
              <a:srgbClr val="4FD1FF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584448" y="3471875"/>
            <a:ext cx="1536192" cy="308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polling moves the duel from pending to active.</a:t>
            </a:r>
            <a:endParaRPr lang="en-US" sz="920" dirty="0"/>
          </a:p>
        </p:txBody>
      </p:sp>
      <p:sp>
        <p:nvSpPr>
          <p:cNvPr id="26" name="Shape 23"/>
          <p:cNvSpPr/>
          <p:nvPr/>
        </p:nvSpPr>
        <p:spPr>
          <a:xfrm>
            <a:off x="3364992" y="3880510"/>
            <a:ext cx="146304" cy="146304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>
                <a:alpha val="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584448" y="3834790"/>
            <a:ext cx="1536192" cy="4529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Winner = most correct; time is the tie-break when both submit.</a:t>
            </a:r>
            <a:endParaRPr lang="en-US" sz="920" dirty="0"/>
          </a:p>
        </p:txBody>
      </p:sp>
      <p:sp>
        <p:nvSpPr>
          <p:cNvPr id="28" name="Shape 25"/>
          <p:cNvSpPr/>
          <p:nvPr/>
        </p:nvSpPr>
        <p:spPr>
          <a:xfrm>
            <a:off x="5925312" y="2011680"/>
            <a:ext cx="5715000" cy="3840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sx="100000" sy="100000" kx="0" ky="0" algn="bl" rotWithShape="0" blurRad="25400" dist="19050" dir="2700000">
              <a:srgbClr val="10213D">
                <a:alpha val="14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6199632" y="2231136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Leaderboard + champion themes</a:t>
            </a:r>
            <a:endParaRPr lang="en-US" sz="1700" dirty="0"/>
          </a:p>
        </p:txBody>
      </p:sp>
      <p:sp>
        <p:nvSpPr>
          <p:cNvPr id="30" name="Text 27"/>
          <p:cNvSpPr/>
          <p:nvPr/>
        </p:nvSpPr>
        <p:spPr>
          <a:xfrm>
            <a:off x="6199632" y="2487168"/>
            <a:ext cx="4754880" cy="3269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384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problem solvers can see themselves in the global table, while the weekly best accuracy performer is auto-awarded champion theme access.</a:t>
            </a:r>
            <a:endParaRPr lang="en-US" sz="980" dirty="0"/>
          </a:p>
        </p:txBody>
      </p:sp>
      <p:sp>
        <p:nvSpPr>
          <p:cNvPr id="31" name="Shape 28"/>
          <p:cNvSpPr/>
          <p:nvPr/>
        </p:nvSpPr>
        <p:spPr>
          <a:xfrm>
            <a:off x="6272784" y="3145536"/>
            <a:ext cx="1444752" cy="2066544"/>
          </a:xfrm>
          <a:prstGeom prst="roundRect">
            <a:avLst/>
          </a:prstGeom>
          <a:solidFill>
            <a:srgbClr val="FFF5DE"/>
          </a:solidFill>
          <a:ln w="12700">
            <a:solidFill>
              <a:srgbClr val="FFF5DE"/>
            </a:solidFill>
            <a:prstDash val="solid"/>
          </a:ln>
          <a:effectLst>
            <a:outerShdw sx="100000" sy="100000" kx="0" ky="0" algn="bl" rotWithShape="0" blurRad="25400" dist="19050" dir="2700000">
              <a:srgbClr val="10213D">
                <a:alpha val="8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6419088" y="3364992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7B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#1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6419088" y="367588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Areeba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6419088" y="4041648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214</a:t>
            </a:r>
            <a:endParaRPr lang="en-US" sz="2200" dirty="0"/>
          </a:p>
        </p:txBody>
      </p:sp>
      <p:sp>
        <p:nvSpPr>
          <p:cNvPr id="35" name="Text 32"/>
          <p:cNvSpPr/>
          <p:nvPr/>
        </p:nvSpPr>
        <p:spPr>
          <a:xfrm>
            <a:off x="6419088" y="4425696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84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solved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7991856" y="3419856"/>
            <a:ext cx="1444752" cy="1792224"/>
          </a:xfrm>
          <a:prstGeom prst="roundRect">
            <a:avLst/>
          </a:prstGeom>
          <a:solidFill>
            <a:srgbClr val="EFF3FA"/>
          </a:solidFill>
          <a:ln w="12700">
            <a:solidFill>
              <a:srgbClr val="EFF3FA"/>
            </a:solidFill>
            <a:prstDash val="solid"/>
          </a:ln>
          <a:effectLst>
            <a:outerShdw sx="100000" sy="100000" kx="0" ky="0" algn="bl" rotWithShape="0" blurRad="25400" dist="19050" dir="2700000">
              <a:srgbClr val="10213D">
                <a:alpha val="8000"/>
              </a:srgbClr>
            </a:outerShdw>
          </a:effectLst>
        </p:spPr>
      </p:sp>
      <p:sp>
        <p:nvSpPr>
          <p:cNvPr id="37" name="Text 34"/>
          <p:cNvSpPr/>
          <p:nvPr/>
        </p:nvSpPr>
        <p:spPr>
          <a:xfrm>
            <a:off x="8138160" y="3639312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7B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#2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8138160" y="3950208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Ibrahim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8138160" y="4315968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</a:t>
            </a:r>
            <a:endParaRPr lang="en-US" sz="2200" dirty="0"/>
          </a:p>
        </p:txBody>
      </p:sp>
      <p:sp>
        <p:nvSpPr>
          <p:cNvPr id="40" name="Text 37"/>
          <p:cNvSpPr/>
          <p:nvPr/>
        </p:nvSpPr>
        <p:spPr>
          <a:xfrm>
            <a:off x="8138160" y="4700016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84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solved</a:t>
            </a:r>
            <a:endParaRPr lang="en-US" sz="800" dirty="0"/>
          </a:p>
        </p:txBody>
      </p:sp>
      <p:sp>
        <p:nvSpPr>
          <p:cNvPr id="41" name="Shape 38"/>
          <p:cNvSpPr/>
          <p:nvPr/>
        </p:nvSpPr>
        <p:spPr>
          <a:xfrm>
            <a:off x="9710928" y="3566160"/>
            <a:ext cx="1444752" cy="1645920"/>
          </a:xfrm>
          <a:prstGeom prst="roundRect">
            <a:avLst/>
          </a:prstGeom>
          <a:solidFill>
            <a:srgbClr val="FFF0EC"/>
          </a:solidFill>
          <a:ln w="12700">
            <a:solidFill>
              <a:srgbClr val="FFF0EC"/>
            </a:solidFill>
            <a:prstDash val="solid"/>
          </a:ln>
          <a:effectLst>
            <a:outerShdw sx="100000" sy="100000" kx="0" ky="0" algn="bl" rotWithShape="0" blurRad="25400" dist="19050" dir="2700000">
              <a:srgbClr val="10213D">
                <a:alpha val="8000"/>
              </a:srgbClr>
            </a:outerShdw>
          </a:effectLst>
        </p:spPr>
      </p:sp>
      <p:sp>
        <p:nvSpPr>
          <p:cNvPr id="42" name="Text 39"/>
          <p:cNvSpPr/>
          <p:nvPr/>
        </p:nvSpPr>
        <p:spPr>
          <a:xfrm>
            <a:off x="9857232" y="3785616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D7B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#3</a:t>
            </a:r>
            <a:endParaRPr lang="en-US" sz="850" dirty="0"/>
          </a:p>
        </p:txBody>
      </p:sp>
      <p:sp>
        <p:nvSpPr>
          <p:cNvPr id="43" name="Text 40"/>
          <p:cNvSpPr/>
          <p:nvPr/>
        </p:nvSpPr>
        <p:spPr>
          <a:xfrm>
            <a:off x="9857232" y="409651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Nandini</a:t>
            </a:r>
            <a:endParaRPr lang="en-US" sz="1400" dirty="0"/>
          </a:p>
        </p:txBody>
      </p:sp>
      <p:sp>
        <p:nvSpPr>
          <p:cNvPr id="44" name="Text 41"/>
          <p:cNvSpPr/>
          <p:nvPr/>
        </p:nvSpPr>
        <p:spPr>
          <a:xfrm>
            <a:off x="9857232" y="4462272"/>
            <a:ext cx="10241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196</a:t>
            </a:r>
            <a:endParaRPr lang="en-US" sz="2200" dirty="0"/>
          </a:p>
        </p:txBody>
      </p:sp>
      <p:sp>
        <p:nvSpPr>
          <p:cNvPr id="45" name="Text 42"/>
          <p:cNvSpPr/>
          <p:nvPr/>
        </p:nvSpPr>
        <p:spPr>
          <a:xfrm>
            <a:off x="9857232" y="4846320"/>
            <a:ext cx="731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84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solved</a:t>
            </a:r>
            <a:endParaRPr lang="en-US" sz="800" dirty="0"/>
          </a:p>
        </p:txBody>
      </p:sp>
      <p:sp>
        <p:nvSpPr>
          <p:cNvPr id="46" name="Shape 43"/>
          <p:cNvSpPr/>
          <p:nvPr/>
        </p:nvSpPr>
        <p:spPr>
          <a:xfrm>
            <a:off x="6236208" y="5266944"/>
            <a:ext cx="4974336" cy="420624"/>
          </a:xfrm>
          <a:prstGeom prst="roundRect">
            <a:avLst/>
          </a:prstGeom>
          <a:solidFill>
            <a:srgbClr val="F8FAFE"/>
          </a:solidFill>
          <a:ln w="12700">
            <a:solidFill>
              <a:srgbClr val="E3EAF5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419088" y="5394960"/>
            <a:ext cx="2377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60" b="1" dirty="0">
                <a:solidFill>
                  <a:srgbClr val="384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top accuracy unlocks champion mode:</a:t>
            </a:r>
            <a:endParaRPr lang="en-US" sz="860" dirty="0"/>
          </a:p>
        </p:txBody>
      </p:sp>
      <p:sp>
        <p:nvSpPr>
          <p:cNvPr id="48" name="Text 45"/>
          <p:cNvSpPr/>
          <p:nvPr/>
        </p:nvSpPr>
        <p:spPr>
          <a:xfrm>
            <a:off x="9144000" y="5367528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9C6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</a:t>
            </a:r>
            <a:endParaRPr lang="en-US" sz="780" dirty="0"/>
          </a:p>
        </p:txBody>
      </p:sp>
      <p:sp>
        <p:nvSpPr>
          <p:cNvPr id="49" name="Text 46"/>
          <p:cNvSpPr/>
          <p:nvPr/>
        </p:nvSpPr>
        <p:spPr>
          <a:xfrm>
            <a:off x="9692640" y="5367528"/>
            <a:ext cx="566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76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Emerald</a:t>
            </a:r>
            <a:endParaRPr lang="en-US" sz="780" dirty="0"/>
          </a:p>
        </p:txBody>
      </p:sp>
      <p:sp>
        <p:nvSpPr>
          <p:cNvPr id="50" name="Text 47"/>
          <p:cNvSpPr/>
          <p:nvPr/>
        </p:nvSpPr>
        <p:spPr>
          <a:xfrm>
            <a:off x="10405872" y="5367528"/>
            <a:ext cx="56692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4457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Sapphire</a:t>
            </a:r>
            <a:endParaRPr lang="en-US" sz="780" dirty="0"/>
          </a:p>
        </p:txBody>
      </p:sp>
      <p:sp>
        <p:nvSpPr>
          <p:cNvPr id="51" name="Text 48"/>
          <p:cNvSpPr/>
          <p:nvPr/>
        </p:nvSpPr>
        <p:spPr>
          <a:xfrm>
            <a:off x="502920" y="644652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C5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19 / Feature Showcase</a:t>
            </a:r>
            <a:endParaRPr lang="en-US" sz="750" dirty="0"/>
          </a:p>
        </p:txBody>
      </p:sp>
      <p:sp>
        <p:nvSpPr>
          <p:cNvPr id="52" name="Text 49"/>
          <p:cNvSpPr/>
          <p:nvPr/>
        </p:nvSpPr>
        <p:spPr>
          <a:xfrm>
            <a:off x="11292840" y="640080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8C5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566928"/>
            <a:ext cx="2423160" cy="310896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EAF2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621792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6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+ SUPPORT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48640" y="914400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Chat, pings, question sharing, and bug reporting close the loop.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66928" y="1508760"/>
            <a:ext cx="5303520" cy="3458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D5E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Learners can ask for help inside the product instead of leaving it, while support tools make it easy to report friction when something breaks.</a:t>
            </a:r>
            <a:endParaRPr lang="en-US" sz="1040" dirty="0"/>
          </a:p>
        </p:txBody>
      </p:sp>
      <p:sp>
        <p:nvSpPr>
          <p:cNvPr id="7" name="Shape 4"/>
          <p:cNvSpPr/>
          <p:nvPr/>
        </p:nvSpPr>
        <p:spPr>
          <a:xfrm>
            <a:off x="566928" y="1993392"/>
            <a:ext cx="5724144" cy="3968496"/>
          </a:xfrm>
          <a:prstGeom prst="roundRect">
            <a:avLst/>
          </a:prstGeom>
          <a:solidFill>
            <a:srgbClr val="0B172A"/>
          </a:solidFill>
          <a:ln w="12700">
            <a:solidFill>
              <a:srgbClr val="203653"/>
            </a:solidFill>
            <a:prstDash val="solid"/>
          </a:ln>
          <a:effectLst>
            <a:outerShdw sx="100000" sy="100000" kx="0" ky="0" algn="bl" rotWithShape="0" blurRad="25400" dist="19050" dir="2700000">
              <a:srgbClr val="040A14">
                <a:alpha val="2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41248" y="221284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chat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4901184" y="2185416"/>
            <a:ext cx="914400" cy="310896"/>
          </a:xfrm>
          <a:prstGeom prst="roundRect">
            <a:avLst/>
          </a:prstGeom>
          <a:solidFill>
            <a:srgbClr val="FFF5DE"/>
          </a:solidFill>
          <a:ln w="12700">
            <a:solidFill>
              <a:srgbClr val="FFF5D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10912" y="2240280"/>
            <a:ext cx="694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C6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notifications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859536" y="2633472"/>
            <a:ext cx="5138928" cy="2578608"/>
          </a:xfrm>
          <a:prstGeom prst="roundRect">
            <a:avLst/>
          </a:prstGeom>
          <a:solidFill>
            <a:srgbClr val="0F213A"/>
          </a:solidFill>
          <a:ln w="12700">
            <a:solidFill>
              <a:srgbClr val="1D365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078992" y="2907792"/>
            <a:ext cx="2377440" cy="640080"/>
          </a:xfrm>
          <a:prstGeom prst="roundRect">
            <a:avLst/>
          </a:prstGeom>
          <a:solidFill>
            <a:srgbClr val="142843"/>
          </a:solidFill>
          <a:ln w="12700">
            <a:solidFill>
              <a:srgbClr val="223D6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88720" y="2999232"/>
            <a:ext cx="21579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Areeba</a:t>
            </a:r>
            <a:endParaRPr lang="en-US" sz="760" dirty="0"/>
          </a:p>
        </p:txBody>
      </p:sp>
      <p:sp>
        <p:nvSpPr>
          <p:cNvPr id="14" name="Text 11"/>
          <p:cNvSpPr/>
          <p:nvPr/>
        </p:nvSpPr>
        <p:spPr>
          <a:xfrm>
            <a:off x="1188720" y="3145536"/>
            <a:ext cx="21579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E6EE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someone sanity-check the motion question I just shared?</a:t>
            </a:r>
            <a:endParaRPr lang="en-US" sz="830" dirty="0"/>
          </a:p>
        </p:txBody>
      </p:sp>
      <p:sp>
        <p:nvSpPr>
          <p:cNvPr id="15" name="Shape 12"/>
          <p:cNvSpPr/>
          <p:nvPr/>
        </p:nvSpPr>
        <p:spPr>
          <a:xfrm>
            <a:off x="2596896" y="3657600"/>
            <a:ext cx="2926080" cy="676656"/>
          </a:xfrm>
          <a:prstGeom prst="roundRect">
            <a:avLst/>
          </a:prstGeom>
          <a:solidFill>
            <a:srgbClr val="2A6DFF"/>
          </a:solidFill>
          <a:ln w="12700">
            <a:solidFill>
              <a:srgbClr val="2A6D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706624" y="3749040"/>
            <a:ext cx="2706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Ibrahim</a:t>
            </a:r>
            <a:endParaRPr lang="en-US" sz="760" dirty="0"/>
          </a:p>
        </p:txBody>
      </p:sp>
      <p:sp>
        <p:nvSpPr>
          <p:cNvPr id="17" name="Text 14"/>
          <p:cNvSpPr/>
          <p:nvPr/>
        </p:nvSpPr>
        <p:spPr>
          <a:xfrm>
            <a:off x="2706624" y="3895344"/>
            <a:ext cx="2706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E6EE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think the answer is B because the acceleration stays constant.</a:t>
            </a:r>
            <a:endParaRPr lang="en-US" sz="830" dirty="0"/>
          </a:p>
        </p:txBody>
      </p:sp>
      <p:sp>
        <p:nvSpPr>
          <p:cNvPr id="18" name="Shape 15"/>
          <p:cNvSpPr/>
          <p:nvPr/>
        </p:nvSpPr>
        <p:spPr>
          <a:xfrm>
            <a:off x="1078992" y="4498848"/>
            <a:ext cx="2560320" cy="566928"/>
          </a:xfrm>
          <a:prstGeom prst="roundRect">
            <a:avLst/>
          </a:prstGeom>
          <a:solidFill>
            <a:srgbClr val="142843"/>
          </a:solidFill>
          <a:ln w="12700">
            <a:solidFill>
              <a:srgbClr val="223D6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188720" y="4590288"/>
            <a:ext cx="23408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Nandini</a:t>
            </a:r>
            <a:endParaRPr lang="en-US" sz="760" dirty="0"/>
          </a:p>
        </p:txBody>
      </p:sp>
      <p:sp>
        <p:nvSpPr>
          <p:cNvPr id="20" name="Text 17"/>
          <p:cNvSpPr/>
          <p:nvPr/>
        </p:nvSpPr>
        <p:spPr>
          <a:xfrm>
            <a:off x="1188720" y="4736592"/>
            <a:ext cx="23408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E6EE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Pinged the group and attached the screenshot.</a:t>
            </a:r>
            <a:endParaRPr lang="en-US" sz="830" dirty="0"/>
          </a:p>
        </p:txBody>
      </p:sp>
      <p:sp>
        <p:nvSpPr>
          <p:cNvPr id="21" name="Shape 18"/>
          <p:cNvSpPr/>
          <p:nvPr/>
        </p:nvSpPr>
        <p:spPr>
          <a:xfrm>
            <a:off x="4261104" y="2898648"/>
            <a:ext cx="512064" cy="310896"/>
          </a:xfrm>
          <a:prstGeom prst="roundRect">
            <a:avLst/>
          </a:prstGeom>
          <a:solidFill>
            <a:srgbClr val="24476F"/>
          </a:solidFill>
          <a:ln w="12700">
            <a:solidFill>
              <a:srgbClr val="24476F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370832" y="295351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Reply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809744" y="2898648"/>
            <a:ext cx="438912" cy="310896"/>
          </a:xfrm>
          <a:prstGeom prst="roundRect">
            <a:avLst/>
          </a:prstGeom>
          <a:solidFill>
            <a:srgbClr val="24476F"/>
          </a:solidFill>
          <a:ln w="12700">
            <a:solidFill>
              <a:srgbClr val="24476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919472" y="2953512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Ping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3749040" y="4572000"/>
            <a:ext cx="1078992" cy="310896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3858768" y="4626864"/>
            <a:ext cx="859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6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attached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3255264" y="5358384"/>
            <a:ext cx="1755648" cy="310896"/>
          </a:xfrm>
          <a:prstGeom prst="roundRect">
            <a:avLst/>
          </a:prstGeom>
          <a:solidFill>
            <a:srgbClr val="E9FBF2"/>
          </a:solidFill>
          <a:ln w="12700">
            <a:solidFill>
              <a:srgbClr val="E9FBF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364992" y="5413248"/>
            <a:ext cx="1536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76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shared from practice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6565392" y="1993392"/>
            <a:ext cx="5065776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sx="100000" sy="100000" kx="0" ky="0" algn="bl" rotWithShape="0" blurRad="25400" dist="19050" dir="2700000">
              <a:srgbClr val="10213D">
                <a:alpha val="12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6821424" y="221284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a bug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6821424" y="2487168"/>
            <a:ext cx="4297680" cy="314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384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form collects title, description, reproduction steps, severity, contact email, and an optional screenshot upload.</a:t>
            </a:r>
            <a:endParaRPr lang="en-US" sz="940" dirty="0"/>
          </a:p>
        </p:txBody>
      </p:sp>
      <p:sp>
        <p:nvSpPr>
          <p:cNvPr id="32" name="Shape 29"/>
          <p:cNvSpPr/>
          <p:nvPr/>
        </p:nvSpPr>
        <p:spPr>
          <a:xfrm>
            <a:off x="6565392" y="3346704"/>
            <a:ext cx="2340864" cy="2615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sx="100000" sy="100000" kx="0" ky="0" algn="bl" rotWithShape="0" blurRad="25400" dist="19050" dir="2700000">
              <a:srgbClr val="10213D">
                <a:alpha val="12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6821424" y="358444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help paths</a:t>
            </a:r>
            <a:endParaRPr lang="en-US" sz="1500" dirty="0"/>
          </a:p>
        </p:txBody>
      </p:sp>
      <p:sp>
        <p:nvSpPr>
          <p:cNvPr id="34" name="Shape 31"/>
          <p:cNvSpPr/>
          <p:nvPr/>
        </p:nvSpPr>
        <p:spPr>
          <a:xfrm>
            <a:off x="6821424" y="3941064"/>
            <a:ext cx="146304" cy="146304"/>
          </a:xfrm>
          <a:prstGeom prst="ellipse">
            <a:avLst/>
          </a:prstGeom>
          <a:solidFill>
            <a:srgbClr val="2D6BFF"/>
          </a:solidFill>
          <a:ln w="12700">
            <a:solidFill>
              <a:srgbClr val="2D6BFF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7040880" y="3895344"/>
            <a:ext cx="1554480" cy="304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reset requests can be queued for staff approval.</a:t>
            </a:r>
            <a:endParaRPr lang="en-US" sz="910" dirty="0"/>
          </a:p>
        </p:txBody>
      </p:sp>
      <p:sp>
        <p:nvSpPr>
          <p:cNvPr id="36" name="Shape 33"/>
          <p:cNvSpPr/>
          <p:nvPr/>
        </p:nvSpPr>
        <p:spPr>
          <a:xfrm>
            <a:off x="6821424" y="4319118"/>
            <a:ext cx="146304" cy="146304"/>
          </a:xfrm>
          <a:prstGeom prst="ellipse">
            <a:avLst/>
          </a:prstGeom>
          <a:solidFill>
            <a:srgbClr val="2D6BFF"/>
          </a:solidFill>
          <a:ln w="12700">
            <a:solidFill>
              <a:srgbClr val="2D6BFF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040880" y="4273398"/>
            <a:ext cx="1554480" cy="448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password is available from the signed-in menu.</a:t>
            </a:r>
            <a:endParaRPr lang="en-US" sz="910" dirty="0"/>
          </a:p>
        </p:txBody>
      </p:sp>
      <p:sp>
        <p:nvSpPr>
          <p:cNvPr id="38" name="Shape 35"/>
          <p:cNvSpPr/>
          <p:nvPr/>
        </p:nvSpPr>
        <p:spPr>
          <a:xfrm>
            <a:off x="6821424" y="4840478"/>
            <a:ext cx="146304" cy="146304"/>
          </a:xfrm>
          <a:prstGeom prst="ellipse">
            <a:avLst/>
          </a:prstGeom>
          <a:solidFill>
            <a:srgbClr val="2D6BFF"/>
          </a:solidFill>
          <a:ln w="12700">
            <a:solidFill>
              <a:srgbClr val="2D6BFF">
                <a:alpha val="0"/>
              </a:srgbClr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040880" y="4794758"/>
            <a:ext cx="1554480" cy="448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and changelog pages round out the support surface.</a:t>
            </a:r>
            <a:endParaRPr lang="en-US" sz="910" dirty="0"/>
          </a:p>
        </p:txBody>
      </p:sp>
      <p:sp>
        <p:nvSpPr>
          <p:cNvPr id="40" name="Shape 37"/>
          <p:cNvSpPr/>
          <p:nvPr/>
        </p:nvSpPr>
        <p:spPr>
          <a:xfrm>
            <a:off x="9217152" y="3346704"/>
            <a:ext cx="2414016" cy="26151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sx="100000" sy="100000" kx="0" ky="0" algn="bl" rotWithShape="0" blurRad="25400" dist="19050" dir="2700000">
              <a:srgbClr val="10213D">
                <a:alpha val="12000"/>
              </a:srgbClr>
            </a:outerShdw>
          </a:effectLst>
        </p:spPr>
      </p:sp>
      <p:sp>
        <p:nvSpPr>
          <p:cNvPr id="41" name="Text 38"/>
          <p:cNvSpPr/>
          <p:nvPr/>
        </p:nvSpPr>
        <p:spPr>
          <a:xfrm>
            <a:off x="9473184" y="358444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governance</a:t>
            </a:r>
            <a:endParaRPr lang="en-US" sz="1500" dirty="0"/>
          </a:p>
        </p:txBody>
      </p:sp>
      <p:sp>
        <p:nvSpPr>
          <p:cNvPr id="42" name="Text 39"/>
          <p:cNvSpPr/>
          <p:nvPr/>
        </p:nvSpPr>
        <p:spPr>
          <a:xfrm>
            <a:off x="9473184" y="3895344"/>
            <a:ext cx="1901952" cy="448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384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can globally lock chat behind a password gate for non-admin users when moderation needs tighten.</a:t>
            </a:r>
            <a:endParaRPr lang="en-US" sz="910" dirty="0"/>
          </a:p>
        </p:txBody>
      </p:sp>
      <p:sp>
        <p:nvSpPr>
          <p:cNvPr id="43" name="Shape 40"/>
          <p:cNvSpPr/>
          <p:nvPr/>
        </p:nvSpPr>
        <p:spPr>
          <a:xfrm>
            <a:off x="9473184" y="4919472"/>
            <a:ext cx="713232" cy="310896"/>
          </a:xfrm>
          <a:prstGeom prst="roundRect">
            <a:avLst/>
          </a:prstGeom>
          <a:solidFill>
            <a:srgbClr val="FFF5DE"/>
          </a:solidFill>
          <a:ln w="12700">
            <a:solidFill>
              <a:srgbClr val="FFF5DE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582912" y="4974336"/>
            <a:ext cx="493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C6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lock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10259568" y="4919472"/>
            <a:ext cx="1115568" cy="310896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10369296" y="4974336"/>
            <a:ext cx="896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6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delete controls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502920" y="644652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C5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19 / Feature Showcase</a:t>
            </a:r>
            <a:endParaRPr lang="en-US" sz="750" dirty="0"/>
          </a:p>
        </p:txBody>
      </p:sp>
      <p:sp>
        <p:nvSpPr>
          <p:cNvPr id="48" name="Text 45"/>
          <p:cNvSpPr/>
          <p:nvPr/>
        </p:nvSpPr>
        <p:spPr>
          <a:xfrm>
            <a:off x="11292840" y="640080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8C5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566928"/>
            <a:ext cx="2331720" cy="310896"/>
          </a:xfrm>
          <a:prstGeom prst="roundRect">
            <a:avLst/>
          </a:prstGeom>
          <a:solidFill>
            <a:srgbClr val="2D6BFF"/>
          </a:solidFill>
          <a:ln w="12700">
            <a:solidFill>
              <a:srgbClr val="2D6B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621792"/>
            <a:ext cx="2112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+ INTEGRATIONS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48640" y="914400"/>
            <a:ext cx="557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61" b="1" dirty="0">
                <a:solidFill>
                  <a:srgbClr val="0B1220"/>
                </a:solidFill>
              </a:rPr>
              <a:t>A documented API lets other sites consume the question archive.</a:t>
            </a:r>
            <a:endParaRPr lang="en-US" sz="2161" dirty="0"/>
          </a:p>
        </p:txBody>
      </p:sp>
      <p:sp>
        <p:nvSpPr>
          <p:cNvPr id="6" name="Text 3"/>
          <p:cNvSpPr/>
          <p:nvPr/>
        </p:nvSpPr>
        <p:spPr>
          <a:xfrm>
            <a:off x="566928" y="1517904"/>
            <a:ext cx="5669280" cy="348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84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 exposes question listing, question detail, and subtopic import endpoints behind managed API keys and multiple auth header styles.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66928" y="1993392"/>
            <a:ext cx="5102352" cy="4005072"/>
          </a:xfrm>
          <a:prstGeom prst="roundRect">
            <a:avLst/>
          </a:prstGeom>
          <a:solidFill>
            <a:srgbClr val="0E1627"/>
          </a:solidFill>
          <a:ln w="12700">
            <a:solidFill>
              <a:srgbClr val="22314B"/>
            </a:solidFill>
            <a:prstDash val="solid"/>
          </a:ln>
          <a:effectLst>
            <a:outerShdw sx="100000" sy="100000" kx="0" ky="0" algn="bl" rotWithShape="0" blurRad="25400" dist="19050" dir="2700000">
              <a:srgbClr val="10213D">
                <a:alpha val="14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41248" y="221284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request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41248" y="2578608"/>
            <a:ext cx="4535424" cy="1078992"/>
          </a:xfrm>
          <a:prstGeom prst="rect">
            <a:avLst/>
          </a:prstGeom>
          <a:solidFill>
            <a:srgbClr val="132038"/>
          </a:solidFill>
          <a:ln>
            <a:solidFill>
              <a:srgbClr val="243651"/>
            </a:solidFill>
          </a:ln>
        </p:spPr>
        <p:txBody>
          <a:bodyPr wrap="square" lIns="1016" tIns="1016" rIns="1016" bIns="1016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-H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"X-API-Key: r19_xxx"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\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400" dirty="0">
                <a:solidFill>
                  <a:srgbClr val="8292A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"https://app.root19.com/api/questions/?subject=Physics&amp;session=May/June&amp;limit=10&amp;include_image_base64=0"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841248" y="3822192"/>
            <a:ext cx="1060704" cy="310896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50976" y="3877056"/>
            <a:ext cx="8412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6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X-API-Key header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1993392" y="3822192"/>
            <a:ext cx="950976" cy="310896"/>
          </a:xfrm>
          <a:prstGeom prst="roundRect">
            <a:avLst/>
          </a:prstGeom>
          <a:solidFill>
            <a:srgbClr val="E9FBF2"/>
          </a:solidFill>
          <a:ln w="12700">
            <a:solidFill>
              <a:srgbClr val="E9FBF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103120" y="387705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76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Bearer token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3054096" y="3822192"/>
            <a:ext cx="859536" cy="310896"/>
          </a:xfrm>
          <a:prstGeom prst="roundRect">
            <a:avLst/>
          </a:prstGeom>
          <a:solidFill>
            <a:srgbClr val="FFF5DE"/>
          </a:solidFill>
          <a:ln w="12700">
            <a:solidFill>
              <a:srgbClr val="FFF5D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163824" y="3877056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C6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 api_key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841248" y="4315968"/>
            <a:ext cx="4535424" cy="1353312"/>
          </a:xfrm>
          <a:prstGeom prst="roundRect">
            <a:avLst/>
          </a:prstGeom>
          <a:solidFill>
            <a:srgbClr val="132038"/>
          </a:solidFill>
          <a:ln w="12700">
            <a:solidFill>
              <a:srgbClr val="24365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42416" y="4526280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DE8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Exposed endpoints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1042416" y="4818888"/>
            <a:ext cx="146304" cy="146304"/>
          </a:xfrm>
          <a:prstGeom prst="ellipse">
            <a:avLst/>
          </a:prstGeom>
          <a:solidFill>
            <a:srgbClr val="4FD1FF"/>
          </a:solidFill>
          <a:ln w="12700">
            <a:solidFill>
              <a:srgbClr val="4FD1FF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261872" y="4773168"/>
            <a:ext cx="3822192" cy="2986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/api/questions/ -&gt; paginated archive search with normalized helper fields</a:t>
            </a:r>
            <a:endParaRPr lang="en-US" sz="890" dirty="0"/>
          </a:p>
        </p:txBody>
      </p:sp>
      <p:sp>
        <p:nvSpPr>
          <p:cNvPr id="20" name="Shape 17"/>
          <p:cNvSpPr/>
          <p:nvPr/>
        </p:nvSpPr>
        <p:spPr>
          <a:xfrm>
            <a:off x="1042416" y="5120640"/>
            <a:ext cx="146304" cy="146304"/>
          </a:xfrm>
          <a:prstGeom prst="ellipse">
            <a:avLst/>
          </a:prstGeom>
          <a:solidFill>
            <a:srgbClr val="4FD1FF"/>
          </a:solidFill>
          <a:ln w="12700">
            <a:solidFill>
              <a:srgbClr val="4FD1FF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261872" y="5074920"/>
            <a:ext cx="3822192" cy="2986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9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/api/questions/&lt;question_id&gt;/ and GET /api/subtopics/ -&gt; detail + import workflows</a:t>
            </a:r>
            <a:endParaRPr lang="en-US" sz="890" dirty="0"/>
          </a:p>
        </p:txBody>
      </p:sp>
      <p:sp>
        <p:nvSpPr>
          <p:cNvPr id="22" name="Shape 19"/>
          <p:cNvSpPr/>
          <p:nvPr/>
        </p:nvSpPr>
        <p:spPr>
          <a:xfrm>
            <a:off x="5980176" y="1993392"/>
            <a:ext cx="2798064" cy="40050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sx="100000" sy="100000" kx="0" ky="0" algn="bl" rotWithShape="0" blurRad="25400" dist="19050" dir="2700000">
              <a:srgbClr val="10213D">
                <a:alpha val="1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6236208" y="2212848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Filters + response shape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6236208" y="2587752"/>
            <a:ext cx="146304" cy="146304"/>
          </a:xfrm>
          <a:prstGeom prst="ellipse">
            <a:avLst/>
          </a:prstGeom>
          <a:solidFill>
            <a:srgbClr val="2D6BFF"/>
          </a:solidFill>
          <a:ln w="12700">
            <a:solidFill>
              <a:srgbClr val="2D6BFF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455664" y="2542032"/>
            <a:ext cx="1938528" cy="161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 / session_code</a:t>
            </a:r>
            <a:endParaRPr lang="en-US" sz="910" dirty="0"/>
          </a:p>
        </p:txBody>
      </p:sp>
      <p:sp>
        <p:nvSpPr>
          <p:cNvPr id="26" name="Shape 23"/>
          <p:cNvSpPr/>
          <p:nvPr/>
        </p:nvSpPr>
        <p:spPr>
          <a:xfrm>
            <a:off x="6236208" y="2795067"/>
            <a:ext cx="146304" cy="146304"/>
          </a:xfrm>
          <a:prstGeom prst="ellipse">
            <a:avLst/>
          </a:prstGeom>
          <a:solidFill>
            <a:srgbClr val="2D6BFF"/>
          </a:solidFill>
          <a:ln w="12700">
            <a:solidFill>
              <a:srgbClr val="2D6BFF">
                <a:alpha val="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455664" y="2749347"/>
            <a:ext cx="1938528" cy="161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/ year / paper / variant</a:t>
            </a:r>
            <a:endParaRPr lang="en-US" sz="910" dirty="0"/>
          </a:p>
        </p:txBody>
      </p:sp>
      <p:sp>
        <p:nvSpPr>
          <p:cNvPr id="28" name="Shape 25"/>
          <p:cNvSpPr/>
          <p:nvPr/>
        </p:nvSpPr>
        <p:spPr>
          <a:xfrm>
            <a:off x="6236208" y="3002382"/>
            <a:ext cx="146304" cy="146304"/>
          </a:xfrm>
          <a:prstGeom prst="ellipse">
            <a:avLst/>
          </a:prstGeom>
          <a:solidFill>
            <a:srgbClr val="2D6BFF"/>
          </a:solidFill>
          <a:ln w="12700">
            <a:solidFill>
              <a:srgbClr val="2D6BFF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455664" y="2956662"/>
            <a:ext cx="1938528" cy="161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subtopic / question_type / answer</a:t>
            </a:r>
            <a:endParaRPr lang="en-US" sz="910" dirty="0"/>
          </a:p>
        </p:txBody>
      </p:sp>
      <p:sp>
        <p:nvSpPr>
          <p:cNvPr id="30" name="Shape 27"/>
          <p:cNvSpPr/>
          <p:nvPr/>
        </p:nvSpPr>
        <p:spPr>
          <a:xfrm>
            <a:off x="6236208" y="3209696"/>
            <a:ext cx="146304" cy="146304"/>
          </a:xfrm>
          <a:prstGeom prst="ellipse">
            <a:avLst/>
          </a:prstGeom>
          <a:solidFill>
            <a:srgbClr val="2D6BFF"/>
          </a:solidFill>
          <a:ln w="12700">
            <a:solidFill>
              <a:srgbClr val="2D6BFF">
                <a:alpha val="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455664" y="3163976"/>
            <a:ext cx="1938528" cy="3049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search / limit / offset / order_by / sort</a:t>
            </a:r>
            <a:endParaRPr lang="en-US" sz="910" dirty="0"/>
          </a:p>
        </p:txBody>
      </p:sp>
      <p:sp>
        <p:nvSpPr>
          <p:cNvPr id="32" name="Shape 29"/>
          <p:cNvSpPr/>
          <p:nvPr/>
        </p:nvSpPr>
        <p:spPr>
          <a:xfrm>
            <a:off x="6236208" y="3560318"/>
            <a:ext cx="146304" cy="146304"/>
          </a:xfrm>
          <a:prstGeom prst="ellipse">
            <a:avLst/>
          </a:prstGeom>
          <a:solidFill>
            <a:srgbClr val="2D6BFF"/>
          </a:solidFill>
          <a:ln w="12700">
            <a:solidFill>
              <a:srgbClr val="2D6BFF">
                <a:alpha val="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455664" y="3514598"/>
            <a:ext cx="1938528" cy="1615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include_image_base64 switch</a:t>
            </a:r>
            <a:endParaRPr lang="en-US" sz="910" dirty="0"/>
          </a:p>
        </p:txBody>
      </p:sp>
      <p:sp>
        <p:nvSpPr>
          <p:cNvPr id="34" name="Shape 31"/>
          <p:cNvSpPr/>
          <p:nvPr/>
        </p:nvSpPr>
        <p:spPr>
          <a:xfrm>
            <a:off x="6254496" y="4700016"/>
            <a:ext cx="2286000" cy="96012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400800" y="4882896"/>
            <a:ext cx="199339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Normalized helper fields also include `image_link`, `image_src`, `question`, and `subject`.</a:t>
            </a:r>
            <a:endParaRPr lang="en-US" sz="880" dirty="0"/>
          </a:p>
        </p:txBody>
      </p:sp>
      <p:sp>
        <p:nvSpPr>
          <p:cNvPr id="36" name="Shape 33"/>
          <p:cNvSpPr/>
          <p:nvPr/>
        </p:nvSpPr>
        <p:spPr>
          <a:xfrm>
            <a:off x="9070848" y="1993392"/>
            <a:ext cx="2560320" cy="40050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sx="100000" sy="100000" kx="0" ky="0" algn="bl" rotWithShape="0" blurRad="25400" dist="19050" dir="2700000">
              <a:srgbClr val="10213D">
                <a:alpha val="12000"/>
              </a:srgbClr>
            </a:outerShdw>
          </a:effectLst>
        </p:spPr>
      </p:sp>
      <p:sp>
        <p:nvSpPr>
          <p:cNvPr id="37" name="Text 34"/>
          <p:cNvSpPr/>
          <p:nvPr/>
        </p:nvSpPr>
        <p:spPr>
          <a:xfrm>
            <a:off x="9326880" y="221284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management + image delivery</a:t>
            </a:r>
            <a:endParaRPr lang="en-US" sz="1600" dirty="0"/>
          </a:p>
        </p:txBody>
      </p:sp>
      <p:sp>
        <p:nvSpPr>
          <p:cNvPr id="38" name="Text 35"/>
          <p:cNvSpPr/>
          <p:nvPr/>
        </p:nvSpPr>
        <p:spPr>
          <a:xfrm>
            <a:off x="9326880" y="2651760"/>
            <a:ext cx="2029968" cy="448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384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can create limited or unlimited keys, track usage, reset counts, and regenerate compromised credentials.</a:t>
            </a:r>
            <a:endParaRPr lang="en-US" sz="910" dirty="0"/>
          </a:p>
        </p:txBody>
      </p:sp>
      <p:sp>
        <p:nvSpPr>
          <p:cNvPr id="39" name="Shape 36"/>
          <p:cNvSpPr/>
          <p:nvPr/>
        </p:nvSpPr>
        <p:spPr>
          <a:xfrm>
            <a:off x="9326880" y="3566160"/>
            <a:ext cx="804672" cy="310896"/>
          </a:xfrm>
          <a:prstGeom prst="roundRect">
            <a:avLst/>
          </a:prstGeom>
          <a:solidFill>
            <a:srgbClr val="FFF5DE"/>
          </a:solidFill>
          <a:ln w="12700">
            <a:solidFill>
              <a:srgbClr val="FFF5DE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9436608" y="3621024"/>
            <a:ext cx="585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C6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keys</a:t>
            </a:r>
            <a:endParaRPr lang="en-US" sz="800" dirty="0"/>
          </a:p>
        </p:txBody>
      </p:sp>
      <p:sp>
        <p:nvSpPr>
          <p:cNvPr id="41" name="Shape 38"/>
          <p:cNvSpPr/>
          <p:nvPr/>
        </p:nvSpPr>
        <p:spPr>
          <a:xfrm>
            <a:off x="10204704" y="3566160"/>
            <a:ext cx="749808" cy="310896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10314432" y="3621024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6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 count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9326880" y="3913632"/>
            <a:ext cx="1005840" cy="310896"/>
          </a:xfrm>
          <a:prstGeom prst="roundRect">
            <a:avLst/>
          </a:prstGeom>
          <a:solidFill>
            <a:srgbClr val="E9FBF2"/>
          </a:solidFill>
          <a:ln w="12700">
            <a:solidFill>
              <a:srgbClr val="E9FBF2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436608" y="3968496"/>
            <a:ext cx="786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76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/ inactive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9326880" y="4407408"/>
            <a:ext cx="1956816" cy="5915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10" dirty="0">
                <a:solidFill>
                  <a:srgbClr val="384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images can also be served from Supabase Storage, with `image_url` and `image_link` helping clients avoid large inline payloads.</a:t>
            </a:r>
            <a:endParaRPr lang="en-US" sz="910" dirty="0"/>
          </a:p>
        </p:txBody>
      </p:sp>
      <p:sp>
        <p:nvSpPr>
          <p:cNvPr id="46" name="Text 43"/>
          <p:cNvSpPr/>
          <p:nvPr/>
        </p:nvSpPr>
        <p:spPr>
          <a:xfrm>
            <a:off x="502920" y="644652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19 / Feature Showcase</a:t>
            </a:r>
            <a:endParaRPr lang="en-US" sz="750" dirty="0"/>
          </a:p>
        </p:txBody>
      </p:sp>
      <p:sp>
        <p:nvSpPr>
          <p:cNvPr id="47" name="Text 44"/>
          <p:cNvSpPr/>
          <p:nvPr/>
        </p:nvSpPr>
        <p:spPr>
          <a:xfrm>
            <a:off x="11292840" y="640080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566928"/>
            <a:ext cx="2514600" cy="310896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621792"/>
            <a:ext cx="22951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 CONTROL CENTER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48640" y="914400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B1220"/>
                </a:solidFill>
              </a:rPr>
              <a:t>Operational tools are unusually broad for a study app.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66928" y="1517904"/>
            <a:ext cx="5486400" cy="3489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84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admin surface covers content quality, support queues, theming access, chat governance, and external integrations.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66928" y="2121408"/>
            <a:ext cx="2578608" cy="14081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sx="100000" sy="100000" kx="0" ky="0" algn="bl" rotWithShape="0" blurRad="25400" dist="19050" dir="2700000">
              <a:srgbClr val="10213D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31520" y="2286000"/>
            <a:ext cx="256032" cy="256032"/>
          </a:xfrm>
          <a:prstGeom prst="ellipse">
            <a:avLst/>
          </a:prstGeom>
          <a:solidFill>
            <a:srgbClr val="2D6BFF"/>
          </a:solidFill>
          <a:ln w="12700">
            <a:solidFill>
              <a:srgbClr val="2D6BFF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78992" y="228600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tester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49808" y="2633472"/>
            <a:ext cx="2176272" cy="2860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84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by ID or extracted text, preview the image, and validate submitted answers.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419856" y="2121408"/>
            <a:ext cx="2578608" cy="14081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sx="100000" sy="100000" kx="0" ky="0" algn="bl" rotWithShape="0" blurRad="25400" dist="19050" dir="2700000">
              <a:srgbClr val="10213D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584448" y="2286000"/>
            <a:ext cx="256032" cy="256032"/>
          </a:xfrm>
          <a:prstGeom prst="ellipse">
            <a:avLst/>
          </a:prstGeom>
          <a:solidFill>
            <a:srgbClr val="FF7B65"/>
          </a:solidFill>
          <a:ln w="12700">
            <a:solidFill>
              <a:srgbClr val="FF7B65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931920" y="228600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reports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3602736" y="2633472"/>
            <a:ext cx="2176272" cy="41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84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answer disputes, compare suggested vs live answers, and resolve moderation states.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6272784" y="2121408"/>
            <a:ext cx="2578608" cy="14081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sx="100000" sy="100000" kx="0" ky="0" algn="bl" rotWithShape="0" blurRad="25400" dist="19050" dir="2700000">
              <a:srgbClr val="10213D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37376" y="2286000"/>
            <a:ext cx="256032" cy="256032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784848" y="228600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 reports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455664" y="2633472"/>
            <a:ext cx="2176272" cy="2860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84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Triage severity-tagged reports, screenshots, statuses, and reopen/close flows.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9125712" y="2121408"/>
            <a:ext cx="2578608" cy="14081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sx="100000" sy="100000" kx="0" ky="0" algn="bl" rotWithShape="0" blurRad="25400" dist="19050" dir="2700000">
              <a:srgbClr val="10213D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9290304" y="2286000"/>
            <a:ext cx="256032" cy="256032"/>
          </a:xfrm>
          <a:prstGeom prst="ellipse">
            <a:avLst/>
          </a:prstGeom>
          <a:solidFill>
            <a:srgbClr val="6C7BFF"/>
          </a:solidFill>
          <a:ln w="12700">
            <a:solidFill>
              <a:srgbClr val="6C7BFF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637776" y="228600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Password requests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9308592" y="2633472"/>
            <a:ext cx="2176272" cy="2860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84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reset requests and jump directly into the reset tool for the target email.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566928" y="3858768"/>
            <a:ext cx="2578608" cy="14081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sx="100000" sy="100000" kx="0" ky="0" algn="bl" rotWithShape="0" blurRad="25400" dist="19050" dir="2700000">
              <a:srgbClr val="10213D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731520" y="4023360"/>
            <a:ext cx="256032" cy="256032"/>
          </a:xfrm>
          <a:prstGeom prst="ellipse">
            <a:avLst/>
          </a:prstGeom>
          <a:solidFill>
            <a:srgbClr val="51D7A2"/>
          </a:solidFill>
          <a:ln w="12700">
            <a:solidFill>
              <a:srgbClr val="51D7A2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078992" y="402336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 access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749808" y="4370832"/>
            <a:ext cx="2176272" cy="2860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84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Grant or revoke champion themes and preview who receives weekly recognition.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3419856" y="3858768"/>
            <a:ext cx="2578608" cy="14081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sx="100000" sy="100000" kx="0" ky="0" algn="bl" rotWithShape="0" blurRad="25400" dist="19050" dir="2700000">
              <a:srgbClr val="10213D">
                <a:alpha val="10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3584448" y="4023360"/>
            <a:ext cx="256032" cy="256032"/>
          </a:xfrm>
          <a:prstGeom prst="ellipse">
            <a:avLst/>
          </a:prstGeom>
          <a:solidFill>
            <a:srgbClr val="2D6BFF"/>
          </a:solidFill>
          <a:ln w="12700">
            <a:solidFill>
              <a:srgbClr val="2D6BFF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931920" y="402336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notice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3602736" y="4370832"/>
            <a:ext cx="2176272" cy="2860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84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Publish a banner on the question bank when there is a service or content notice.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6272784" y="3858768"/>
            <a:ext cx="2578608" cy="14081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sx="100000" sy="100000" kx="0" ky="0" algn="bl" rotWithShape="0" blurRad="25400" dist="19050" dir="2700000">
              <a:srgbClr val="10213D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6437376" y="4023360"/>
            <a:ext cx="256032" cy="256032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784848" y="402336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key panel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6455664" y="4370832"/>
            <a:ext cx="2176272" cy="2860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84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Generate, regenerate, deactivate, or reset usage on external integration keys.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9125712" y="3858768"/>
            <a:ext cx="2578608" cy="14081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E2F1"/>
            </a:solidFill>
            <a:prstDash val="solid"/>
          </a:ln>
          <a:effectLst>
            <a:outerShdw sx="100000" sy="100000" kx="0" ky="0" algn="bl" rotWithShape="0" blurRad="25400" dist="19050" dir="2700000">
              <a:srgbClr val="10213D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9290304" y="4023360"/>
            <a:ext cx="256032" cy="256032"/>
          </a:xfrm>
          <a:prstGeom prst="ellipse">
            <a:avLst/>
          </a:prstGeom>
          <a:solidFill>
            <a:srgbClr val="FF7B65"/>
          </a:solidFill>
          <a:ln w="12700">
            <a:solidFill>
              <a:srgbClr val="FF7B65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637776" y="4023360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 lock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9308592" y="4370832"/>
            <a:ext cx="2176272" cy="4198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84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community chat behind a staff-controlled password without removing the feature entirely.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566928" y="5742432"/>
            <a:ext cx="11064240" cy="502920"/>
          </a:xfrm>
          <a:prstGeom prst="roundRect">
            <a:avLst/>
          </a:prstGeom>
          <a:solidFill>
            <a:srgbClr val="122039"/>
          </a:solidFill>
          <a:ln w="12700">
            <a:solidFill>
              <a:srgbClr val="122039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841248" y="5897880"/>
            <a:ext cx="6217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result is a codebase with both learner-facing polish and production-minded guardrails.</a:t>
            </a:r>
            <a:endParaRPr lang="en-US" sz="980" dirty="0"/>
          </a:p>
        </p:txBody>
      </p:sp>
      <p:sp>
        <p:nvSpPr>
          <p:cNvPr id="41" name="Shape 38"/>
          <p:cNvSpPr/>
          <p:nvPr/>
        </p:nvSpPr>
        <p:spPr>
          <a:xfrm>
            <a:off x="7790688" y="5833872"/>
            <a:ext cx="694944" cy="310896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EAF2FF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900416" y="5888736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6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moderation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8577072" y="5833872"/>
            <a:ext cx="566928" cy="310896"/>
          </a:xfrm>
          <a:prstGeom prst="roundRect">
            <a:avLst/>
          </a:prstGeom>
          <a:solidFill>
            <a:srgbClr val="FFF5DE"/>
          </a:solidFill>
          <a:ln w="12700">
            <a:solidFill>
              <a:srgbClr val="FFF5DE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686800" y="5888736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C6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9217152" y="5833872"/>
            <a:ext cx="749808" cy="310896"/>
          </a:xfrm>
          <a:prstGeom prst="roundRect">
            <a:avLst/>
          </a:prstGeom>
          <a:solidFill>
            <a:srgbClr val="E9FBF2"/>
          </a:solidFill>
          <a:ln w="12700">
            <a:solidFill>
              <a:srgbClr val="E9FBF2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9326880" y="5888736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763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</a:t>
            </a:r>
            <a:endParaRPr lang="en-US" sz="800" dirty="0"/>
          </a:p>
        </p:txBody>
      </p:sp>
      <p:sp>
        <p:nvSpPr>
          <p:cNvPr id="47" name="Shape 44"/>
          <p:cNvSpPr/>
          <p:nvPr/>
        </p:nvSpPr>
        <p:spPr>
          <a:xfrm>
            <a:off x="10058400" y="5833872"/>
            <a:ext cx="384048" cy="310896"/>
          </a:xfrm>
          <a:prstGeom prst="roundRect">
            <a:avLst/>
          </a:prstGeom>
          <a:solidFill>
            <a:srgbClr val="FFF0EC"/>
          </a:solidFill>
          <a:ln w="12700">
            <a:solidFill>
              <a:srgbClr val="FFF0EC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168128" y="588873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7B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502920" y="644652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19 / Feature Showcase</a:t>
            </a:r>
            <a:endParaRPr lang="en-US" sz="750" dirty="0"/>
          </a:p>
        </p:txBody>
      </p:sp>
      <p:sp>
        <p:nvSpPr>
          <p:cNvPr id="50" name="Text 47"/>
          <p:cNvSpPr/>
          <p:nvPr/>
        </p:nvSpPr>
        <p:spPr>
          <a:xfrm>
            <a:off x="11292840" y="640080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B7A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566928"/>
            <a:ext cx="1325880" cy="310896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EAF2FF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58368" y="621792"/>
            <a:ext cx="1106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D6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548640" y="914400"/>
            <a:ext cx="5760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</a:rPr>
              <a:t>Root 19 already behaves like a full revision platform.</a:t>
            </a:r>
            <a:endParaRPr lang="en-US" sz="2300" dirty="0"/>
          </a:p>
        </p:txBody>
      </p:sp>
      <p:sp>
        <p:nvSpPr>
          <p:cNvPr id="6" name="Text 3"/>
          <p:cNvSpPr/>
          <p:nvPr/>
        </p:nvSpPr>
        <p:spPr>
          <a:xfrm>
            <a:off x="566928" y="1527048"/>
            <a:ext cx="5669280" cy="5285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D5E1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Its strongest story is the continuity between surfaces: discover questions, practice in a focused screen, save what matters, track performance, compete with others, and back it all with real operational tooling.</a:t>
            </a:r>
            <a:endParaRPr lang="en-US" sz="1080" dirty="0"/>
          </a:p>
        </p:txBody>
      </p:sp>
      <p:sp>
        <p:nvSpPr>
          <p:cNvPr id="7" name="Shape 4"/>
          <p:cNvSpPr/>
          <p:nvPr/>
        </p:nvSpPr>
        <p:spPr>
          <a:xfrm>
            <a:off x="566928" y="2487168"/>
            <a:ext cx="5230368" cy="1261872"/>
          </a:xfrm>
          <a:prstGeom prst="roundRect">
            <a:avLst/>
          </a:prstGeom>
          <a:solidFill>
            <a:srgbClr val="132644"/>
          </a:solidFill>
          <a:ln w="12700">
            <a:solidFill>
              <a:srgbClr val="2A4770"/>
            </a:solidFill>
            <a:prstDash val="solid"/>
          </a:ln>
          <a:effectLst>
            <a:outerShdw sx="100000" sy="100000" kx="0" ky="0" algn="bl" rotWithShape="0" blurRad="25400" dist="19050" dir="2700000">
              <a:srgbClr val="040A14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86384" y="268833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Learner flow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86384" y="2999232"/>
            <a:ext cx="4681728" cy="308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D7E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Bank, Practice Studio, Saved Studio, progress checklists, stats dashboards, streaks.</a:t>
            </a:r>
            <a:endParaRPr lang="en-US" sz="920" dirty="0"/>
          </a:p>
        </p:txBody>
      </p:sp>
      <p:sp>
        <p:nvSpPr>
          <p:cNvPr id="10" name="Shape 7"/>
          <p:cNvSpPr/>
          <p:nvPr/>
        </p:nvSpPr>
        <p:spPr>
          <a:xfrm>
            <a:off x="6144768" y="2487168"/>
            <a:ext cx="5230368" cy="1261872"/>
          </a:xfrm>
          <a:prstGeom prst="roundRect">
            <a:avLst/>
          </a:prstGeom>
          <a:solidFill>
            <a:srgbClr val="132644"/>
          </a:solidFill>
          <a:ln w="12700">
            <a:solidFill>
              <a:srgbClr val="2A4770"/>
            </a:solidFill>
            <a:prstDash val="solid"/>
          </a:ln>
          <a:effectLst>
            <a:outerShdw sx="100000" sy="100000" kx="0" ky="0" algn="bl" rotWithShape="0" blurRad="25400" dist="19050" dir="2700000">
              <a:srgbClr val="040A14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364224" y="268833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+ pace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364224" y="2999232"/>
            <a:ext cx="4681728" cy="1631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D7E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chat, question sharing, user pings, duels, leaderboard, champion themes.</a:t>
            </a:r>
            <a:endParaRPr lang="en-US" sz="920" dirty="0"/>
          </a:p>
        </p:txBody>
      </p:sp>
      <p:sp>
        <p:nvSpPr>
          <p:cNvPr id="13" name="Shape 10"/>
          <p:cNvSpPr/>
          <p:nvPr/>
        </p:nvSpPr>
        <p:spPr>
          <a:xfrm>
            <a:off x="566928" y="4041648"/>
            <a:ext cx="5230368" cy="1261872"/>
          </a:xfrm>
          <a:prstGeom prst="roundRect">
            <a:avLst/>
          </a:prstGeom>
          <a:solidFill>
            <a:srgbClr val="132644"/>
          </a:solidFill>
          <a:ln w="12700">
            <a:solidFill>
              <a:srgbClr val="2A4770"/>
            </a:solidFill>
            <a:prstDash val="solid"/>
          </a:ln>
          <a:effectLst>
            <a:outerShdw sx="100000" sy="100000" kx="0" ky="0" algn="bl" rotWithShape="0" blurRad="25400" dist="19050" dir="2700000">
              <a:srgbClr val="040A14">
                <a:alpha val="1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86384" y="424281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Developer surface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86384" y="4553712"/>
            <a:ext cx="4681728" cy="308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D7E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API keys, question endpoints, subtopic import, normalized image fields, CDN-friendly responses.</a:t>
            </a:r>
            <a:endParaRPr lang="en-US" sz="920" dirty="0"/>
          </a:p>
        </p:txBody>
      </p:sp>
      <p:sp>
        <p:nvSpPr>
          <p:cNvPr id="16" name="Shape 13"/>
          <p:cNvSpPr/>
          <p:nvPr/>
        </p:nvSpPr>
        <p:spPr>
          <a:xfrm>
            <a:off x="6144768" y="4041648"/>
            <a:ext cx="5230368" cy="1261872"/>
          </a:xfrm>
          <a:prstGeom prst="roundRect">
            <a:avLst/>
          </a:prstGeom>
          <a:solidFill>
            <a:srgbClr val="132644"/>
          </a:solidFill>
          <a:ln w="12700">
            <a:solidFill>
              <a:srgbClr val="2A4770"/>
            </a:solidFill>
            <a:prstDash val="solid"/>
          </a:ln>
          <a:effectLst>
            <a:outerShdw sx="100000" sy="100000" kx="0" ky="0" algn="bl" rotWithShape="0" blurRad="25400" dist="19050" dir="2700000">
              <a:srgbClr val="040A14">
                <a:alpha val="1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364224" y="424281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maturity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6364224" y="4553712"/>
            <a:ext cx="4681728" cy="308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D7E3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 moderation, bug triage, password reset workflow, notices, theme access, chat locking.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566928" y="5779008"/>
            <a:ext cx="11064240" cy="438912"/>
          </a:xfrm>
          <a:prstGeom prst="roundRect">
            <a:avLst/>
          </a:prstGeom>
          <a:solidFill>
            <a:srgbClr val="EDF5FF"/>
          </a:solidFill>
          <a:ln w="12700">
            <a:solidFill>
              <a:srgbClr val="EDF5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41248" y="5916168"/>
            <a:ext cx="9875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0B12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Showcase takeaway: the repo supports a polished presentation for students, plus the backstage tooling needed to run it seriously.</a:t>
            </a:r>
            <a:endParaRPr lang="en-US" sz="960" dirty="0"/>
          </a:p>
        </p:txBody>
      </p:sp>
      <p:sp>
        <p:nvSpPr>
          <p:cNvPr id="21" name="Text 18"/>
          <p:cNvSpPr/>
          <p:nvPr/>
        </p:nvSpPr>
        <p:spPr>
          <a:xfrm>
            <a:off x="502920" y="644652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B8C5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19 / Feature Showcase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11292840" y="6400800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B8C5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Root 19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Root 19 Feature Showcase</dc:title>
  <dc:subject>Feature showcase deck</dc:subject>
  <dc:creator>OpenAI Codex</dc:creator>
  <cp:lastModifiedBy>OpenAI Codex</cp:lastModifiedBy>
  <cp:revision>1</cp:revision>
  <dcterms:created xsi:type="dcterms:W3CDTF">2026-03-26T08:03:55Z</dcterms:created>
  <dcterms:modified xsi:type="dcterms:W3CDTF">2026-03-26T08:03:55Z</dcterms:modified>
</cp:coreProperties>
</file>